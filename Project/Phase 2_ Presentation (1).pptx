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Helvetica Neue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YWJBtbwI2f3eR+P45eHJopK7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43F2E9-EE5A-4B70-8657-BDC805B4E44C}">
  <a:tblStyle styleId="{F243F2E9-EE5A-4B70-8657-BDC805B4E4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41a0f08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a841a0f08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61f4e99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bb61f4e99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938ca1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a9938ca1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41a0f08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a841a0f08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61f4e99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bb61f4e99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28b83b5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a928b83b5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61f4e99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bb61f4e99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61f4e99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bb61f4e99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61f4e99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bb61f4e99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61f4e995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bb61f4e995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2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SUMMER INTERNSHIP | 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760100" y="1989650"/>
            <a:ext cx="658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1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(Problem Statement)</a:t>
            </a:r>
            <a:endParaRPr sz="4000" b="1" i="0" u="none" strike="noStrike" cap="none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4294967295"/>
          </p:nvPr>
        </p:nvSpPr>
        <p:spPr>
          <a:xfrm>
            <a:off x="760100" y="2636150"/>
            <a:ext cx="3811800" cy="21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Science and AI ML </a:t>
            </a:r>
            <a:endParaRPr sz="1400" b="0" i="0" u="none" strike="noStrike" cap="none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Members: 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8" name="Google Shape;58;p1"/>
          <p:cNvGrpSpPr/>
          <p:nvPr/>
        </p:nvGrpSpPr>
        <p:grpSpPr>
          <a:xfrm>
            <a:off x="556474" y="261338"/>
            <a:ext cx="8207554" cy="1097424"/>
            <a:chOff x="556474" y="261338"/>
            <a:chExt cx="8207554" cy="1097424"/>
          </a:xfrm>
        </p:grpSpPr>
        <p:pic>
          <p:nvPicPr>
            <p:cNvPr id="59" name="Google Shape;59;p1"/>
            <p:cNvPicPr preferRelativeResize="0"/>
            <p:nvPr/>
          </p:nvPicPr>
          <p:blipFill rotWithShape="1">
            <a:blip r:embed="rId3">
              <a:alphaModFix/>
            </a:blip>
            <a:srcRect t="23174" b="23167"/>
            <a:stretch/>
          </p:blipFill>
          <p:spPr>
            <a:xfrm>
              <a:off x="556474" y="522675"/>
              <a:ext cx="3134699" cy="57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 title="ERA LOGO PNG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95230" y="261338"/>
              <a:ext cx="868798" cy="1097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4294967295"/>
          </p:nvPr>
        </p:nvSpPr>
        <p:spPr>
          <a:xfrm>
            <a:off x="4098175" y="2636150"/>
            <a:ext cx="20730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-GB" sz="1400">
                <a:solidFill>
                  <a:srgbClr val="294C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Guide:</a:t>
            </a:r>
            <a:endParaRPr sz="1400">
              <a:solidFill>
                <a:srgbClr val="294C6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891600" y="2569574"/>
            <a:ext cx="73608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 Light"/>
              <a:buChar char="●"/>
            </a:pPr>
            <a:r>
              <a:rPr lang="en-GB" sz="1300">
                <a:solidFill>
                  <a:schemeClr val="dk1"/>
                </a:solidFill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SMART Objectives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5W1H Analysis and SCAMPER Ideation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Literature Insights (Short)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Proposed Solution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chemeClr val="dk1"/>
                </a:solidFill>
              </a:rPr>
              <a:t>System Overview (Basic Diagram)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Gantt Chart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Expected Outcome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003975" y="1763600"/>
            <a:ext cx="50697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Agenda: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045075" y="2266500"/>
            <a:ext cx="4987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FF4A0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a841a0f086_0_91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a841a0f086_0_91"/>
          <p:cNvSpPr txBox="1"/>
          <p:nvPr/>
        </p:nvSpPr>
        <p:spPr>
          <a:xfrm>
            <a:off x="1434789" y="1754459"/>
            <a:ext cx="7236073" cy="358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8" name="Google Shape;78;g3a841a0f086_0_91"/>
          <p:cNvSpPr txBox="1"/>
          <p:nvPr/>
        </p:nvSpPr>
        <p:spPr>
          <a:xfrm>
            <a:off x="811975" y="1105525"/>
            <a:ext cx="75315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g3a841a0f086_0_91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65E06-8395-8CB7-2557-26660006E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30" y="1602775"/>
            <a:ext cx="8989057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diseases cause major losses in agriculture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fail to detect diseases early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slow and inaccurate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expert availability in rural areas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automated, fast, and accurate solution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b61f4e995_0_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bb61f4e995_0_24"/>
          <p:cNvSpPr txBox="1"/>
          <p:nvPr/>
        </p:nvSpPr>
        <p:spPr>
          <a:xfrm>
            <a:off x="980995" y="1150538"/>
            <a:ext cx="7360800" cy="11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Area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 in agriculture using image-based AI systems.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This Problem?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workers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inspectors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Does It Occur?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Farms and agricultural fields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areas with limited expert access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crop loss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crop quality and yield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take early action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g3bb61f4e995_0_24"/>
          <p:cNvSpPr txBox="1"/>
          <p:nvPr/>
        </p:nvSpPr>
        <p:spPr>
          <a:xfrm>
            <a:off x="1088291" y="349678"/>
            <a:ext cx="75315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bb61f4e995_0_2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9938ca1de_0_0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a9938ca1de_0_0"/>
          <p:cNvSpPr txBox="1"/>
          <p:nvPr/>
        </p:nvSpPr>
        <p:spPr>
          <a:xfrm>
            <a:off x="817257" y="1553756"/>
            <a:ext cx="6773005" cy="1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Objective 1: Specific</a:t>
            </a:r>
            <a:br>
              <a:rPr lang="en-US" sz="1800" dirty="0"/>
            </a:br>
            <a:r>
              <a:rPr lang="en-US" sz="1800" dirty="0"/>
              <a:t>Develop a system to detect plant diseases from leaf images.</a:t>
            </a:r>
          </a:p>
          <a:p>
            <a:r>
              <a:rPr lang="en-US" sz="1800" b="1" dirty="0"/>
              <a:t>Objective 2: Measurable</a:t>
            </a:r>
            <a:br>
              <a:rPr lang="en-US" sz="1800" dirty="0"/>
            </a:br>
            <a:r>
              <a:rPr lang="en-US" sz="1800" dirty="0"/>
              <a:t>Achieve high accuracy (around 90%) in disease detection.</a:t>
            </a:r>
          </a:p>
          <a:p>
            <a:r>
              <a:rPr lang="en-US" sz="1800" b="1" dirty="0"/>
              <a:t>Objective 3: Achievable</a:t>
            </a:r>
            <a:br>
              <a:rPr lang="en-US" sz="1800" dirty="0"/>
            </a:br>
            <a:r>
              <a:rPr lang="en-US" sz="1800" dirty="0"/>
              <a:t>Use CNN models like </a:t>
            </a:r>
            <a:r>
              <a:rPr lang="en-US" sz="1800" dirty="0" err="1"/>
              <a:t>MobileNet</a:t>
            </a:r>
            <a:r>
              <a:rPr lang="en-US" sz="1800" dirty="0"/>
              <a:t>/</a:t>
            </a:r>
            <a:r>
              <a:rPr lang="en-US" sz="1800" dirty="0" err="1"/>
              <a:t>ResNet</a:t>
            </a:r>
            <a:r>
              <a:rPr lang="en-US" sz="1800" dirty="0"/>
              <a:t> for implementation.</a:t>
            </a:r>
          </a:p>
          <a:p>
            <a:r>
              <a:rPr lang="en-US" sz="1800" b="1" dirty="0"/>
              <a:t>Objective 4: Relevant</a:t>
            </a:r>
            <a:br>
              <a:rPr lang="en-US" sz="1800" dirty="0"/>
            </a:br>
            <a:r>
              <a:rPr lang="en-US" sz="1800" dirty="0"/>
              <a:t>Helps farmers improve crop health and reduce losses.</a:t>
            </a:r>
          </a:p>
          <a:p>
            <a:r>
              <a:rPr lang="en-US" sz="1800" b="1" dirty="0"/>
              <a:t>Objective 5: Time Bound</a:t>
            </a:r>
            <a:br>
              <a:rPr lang="en-US" sz="1800" dirty="0"/>
            </a:br>
            <a:r>
              <a:rPr lang="en-US" sz="1800" dirty="0"/>
              <a:t>Complete the project within the given </a:t>
            </a:r>
            <a:r>
              <a:rPr lang="en-IN" sz="1800" dirty="0"/>
              <a:t>timeline.</a:t>
            </a:r>
            <a:endParaRPr lang="en-US" sz="1800"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4" name="Google Shape;94;g3a9938ca1de_0_0"/>
          <p:cNvSpPr txBox="1"/>
          <p:nvPr/>
        </p:nvSpPr>
        <p:spPr>
          <a:xfrm>
            <a:off x="1031409" y="777695"/>
            <a:ext cx="63447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 (SMART)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a9938ca1de_0_0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a841a0f086_0_105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a841a0f086_0_105"/>
          <p:cNvSpPr txBox="1"/>
          <p:nvPr/>
        </p:nvSpPr>
        <p:spPr>
          <a:xfrm>
            <a:off x="891600" y="1955200"/>
            <a:ext cx="5405122" cy="1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2" name="Google Shape;102;g3a841a0f086_0_105"/>
          <p:cNvSpPr txBox="1"/>
          <p:nvPr/>
        </p:nvSpPr>
        <p:spPr>
          <a:xfrm>
            <a:off x="826843" y="497475"/>
            <a:ext cx="56040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5W1H Analysis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3a841a0f086_0_10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B00524-CEB5-D245-B3A1-AA8DA0508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526916"/>
              </p:ext>
            </p:extLst>
          </p:nvPr>
        </p:nvGraphicFramePr>
        <p:xfrm>
          <a:off x="311150" y="1793875"/>
          <a:ext cx="7896148" cy="2133600"/>
        </p:xfrm>
        <a:graphic>
          <a:graphicData uri="http://schemas.openxmlformats.org/drawingml/2006/table">
            <a:tbl>
              <a:tblPr/>
              <a:tblGrid>
                <a:gridCol w="1257455">
                  <a:extLst>
                    <a:ext uri="{9D8B030D-6E8A-4147-A177-3AD203B41FA5}">
                      <a16:colId xmlns:a16="http://schemas.microsoft.com/office/drawing/2014/main" val="3172289809"/>
                    </a:ext>
                  </a:extLst>
                </a:gridCol>
                <a:gridCol w="6638693">
                  <a:extLst>
                    <a:ext uri="{9D8B030D-6E8A-4147-A177-3AD203B41FA5}">
                      <a16:colId xmlns:a16="http://schemas.microsoft.com/office/drawing/2014/main" val="2061130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58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Farmers, agricultural experts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675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 plant diseases using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2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Farms, agricultural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4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During crop growth stages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9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 reduce crop loss and increase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Using AI + CNN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7893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bb61f4e995_0_67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bb61f4e995_0_67"/>
          <p:cNvSpPr txBox="1"/>
          <p:nvPr/>
        </p:nvSpPr>
        <p:spPr>
          <a:xfrm>
            <a:off x="811975" y="2055325"/>
            <a:ext cx="4788300" cy="1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Substitute → chatbot instead of humans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Combine → NLP + APIs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Adapt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Modify → better intent detection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Put to Another Use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Eliminate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dirty="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Reverse → proactive chatbot</a:t>
            </a: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0" name="Google Shape;110;g3bb61f4e995_0_67"/>
          <p:cNvSpPr txBox="1"/>
          <p:nvPr/>
        </p:nvSpPr>
        <p:spPr>
          <a:xfrm>
            <a:off x="811975" y="1105525"/>
            <a:ext cx="59730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SCAMPER Ideation (Optional)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3bb61f4e995_0_67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a928b83b57_0_92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928b83b57_0_92"/>
          <p:cNvSpPr txBox="1"/>
          <p:nvPr/>
        </p:nvSpPr>
        <p:spPr>
          <a:xfrm>
            <a:off x="811974" y="1278673"/>
            <a:ext cx="7744727" cy="287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Search Keywords Used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Plant disease detection using AI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CNN for leaf disease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Deep learning in agriculture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Image processing for crop disease </a:t>
            </a:r>
          </a:p>
          <a:p>
            <a:r>
              <a:rPr lang="en-US" sz="1600" b="1" dirty="0"/>
              <a:t>Papers Selected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Research on CNN-based plant disease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Studies using deep learning for agriculture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Papers on image classification using leaf datasets </a:t>
            </a:r>
          </a:p>
          <a:p>
            <a:r>
              <a:rPr lang="en-US" sz="1600" b="1" dirty="0"/>
              <a:t>Gaps Identified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Many systems lack real-time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mobile/offline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 models have lower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Lack of user-friendly applications for farmers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g3a928b83b57_0_92"/>
          <p:cNvSpPr txBox="1"/>
          <p:nvPr/>
        </p:nvSpPr>
        <p:spPr>
          <a:xfrm>
            <a:off x="811974" y="419425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Insights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a928b83b57_0_92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bb61f4e995_0_85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bb61f4e995_0_85"/>
          <p:cNvSpPr txBox="1"/>
          <p:nvPr/>
        </p:nvSpPr>
        <p:spPr>
          <a:xfrm>
            <a:off x="774804" y="269400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Solution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3bb61f4e995_0_85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BAA2D-D7DB-71F6-C010-0D3E76619FA2}"/>
              </a:ext>
            </a:extLst>
          </p:cNvPr>
          <p:cNvSpPr txBox="1"/>
          <p:nvPr/>
        </p:nvSpPr>
        <p:spPr>
          <a:xfrm>
            <a:off x="774804" y="835066"/>
            <a:ext cx="5408340" cy="62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20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Design Phase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DBC35-C22F-8316-1338-C19C985C0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961" y="835066"/>
            <a:ext cx="4826619" cy="4275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4DEAB-BDAF-5361-FB72-210DB22F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505522"/>
            <a:ext cx="8520600" cy="4063353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B43C8-2764-1DC2-3FF6-D1025B1E3F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072782-AE40-8B10-B318-21C78CAC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12" y="719549"/>
            <a:ext cx="6406503" cy="36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4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bb61f4e995_0_9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b61f4e995_0_94"/>
          <p:cNvSpPr txBox="1"/>
          <p:nvPr/>
        </p:nvSpPr>
        <p:spPr>
          <a:xfrm>
            <a:off x="611254" y="136707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i="0" u="none" strike="noStrike" cap="none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Installation &amp; System Overview (Basic Diagram)Configuration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bb61f4e995_0_9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2D31D-C030-02F5-FBC8-7D657EBC985A}"/>
              </a:ext>
            </a:extLst>
          </p:cNvPr>
          <p:cNvSpPr txBox="1"/>
          <p:nvPr/>
        </p:nvSpPr>
        <p:spPr>
          <a:xfrm>
            <a:off x="874878" y="1268516"/>
            <a:ext cx="761834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Python and required libraries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TensorFlow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OpenCV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Flask for backend (optional)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trained CNN model 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(Basic Diagram)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Image Upload → Preprocessing → CNN Model → Prediction → Result Display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Leaf image (camera/upload)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CNN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Disease name + confidence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Web / Mobile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b61f4e995_0_11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b61f4e995_0_114"/>
          <p:cNvSpPr txBox="1"/>
          <p:nvPr/>
        </p:nvSpPr>
        <p:spPr>
          <a:xfrm>
            <a:off x="646050" y="690725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Gantt Chart</a:t>
            </a:r>
            <a:endParaRPr sz="3100" b="1" i="0" u="none" strike="noStrike" cap="none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bb61f4e995_0_11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graphicFrame>
        <p:nvGraphicFramePr>
          <p:cNvPr id="142" name="Google Shape;142;g3bb61f4e995_0_114"/>
          <p:cNvGraphicFramePr/>
          <p:nvPr/>
        </p:nvGraphicFramePr>
        <p:xfrm>
          <a:off x="90613" y="1516275"/>
          <a:ext cx="8879800" cy="3139758"/>
        </p:xfrm>
        <a:graphic>
          <a:graphicData uri="http://schemas.openxmlformats.org/drawingml/2006/table">
            <a:tbl>
              <a:tblPr>
                <a:noFill/>
                <a:tableStyleId>{F243F2E9-EE5A-4B70-8657-BDC805B4E44C}</a:tableStyleId>
              </a:tblPr>
              <a:tblGrid>
                <a:gridCol w="6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74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66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Project Details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6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7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8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9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10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11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12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13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14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15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Week 16</a:t>
                      </a:r>
                      <a:endParaRPr sz="1000" b="1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■</a:t>
                      </a:r>
                      <a:endParaRPr sz="100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/>
                        <a:t>■</a:t>
                      </a:r>
                      <a:endParaRPr sz="1000" dirty="0"/>
                    </a:p>
                  </a:txBody>
                  <a:tcPr marL="28575" marR="28575" marT="19050" marB="19050" anchor="b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b61f4e995_0_124"/>
          <p:cNvPicPr preferRelativeResize="0"/>
          <p:nvPr/>
        </p:nvPicPr>
        <p:blipFill rotWithShape="1">
          <a:blip r:embed="rId3">
            <a:alphaModFix/>
          </a:blip>
          <a:srcRect l="7620" t="23175" r="65300" b="23164"/>
          <a:stretch/>
        </p:blipFill>
        <p:spPr>
          <a:xfrm>
            <a:off x="8200175" y="497475"/>
            <a:ext cx="586099" cy="3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bb61f4e995_0_124"/>
          <p:cNvSpPr txBox="1"/>
          <p:nvPr/>
        </p:nvSpPr>
        <p:spPr>
          <a:xfrm>
            <a:off x="940857" y="695900"/>
            <a:ext cx="7160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GB" sz="3100" b="1" dirty="0">
                <a:solidFill>
                  <a:srgbClr val="09134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Expected Outcome</a:t>
            </a:r>
            <a:endParaRPr sz="3100" b="1" i="0" u="none" strike="noStrike" cap="none" dirty="0">
              <a:solidFill>
                <a:srgbClr val="09134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bb61f4e995_0_124"/>
          <p:cNvSpPr txBox="1">
            <a:spLocks noGrp="1"/>
          </p:cNvSpPr>
          <p:nvPr>
            <p:ph type="sldNum" idx="12"/>
          </p:nvPr>
        </p:nvSpPr>
        <p:spPr>
          <a:xfrm>
            <a:off x="7181307" y="4663225"/>
            <a:ext cx="183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0751C-9641-1C00-495E-16B48169598D}"/>
              </a:ext>
            </a:extLst>
          </p:cNvPr>
          <p:cNvSpPr txBox="1"/>
          <p:nvPr/>
        </p:nvSpPr>
        <p:spPr>
          <a:xfrm>
            <a:off x="1109340" y="1645700"/>
            <a:ext cx="6220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of plant diseases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results compared to manual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helps reduce crop loss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Easy-to-use system for farmers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crop quality and productivity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On-screen Show (16:9)</PresentationFormat>
  <Paragraphs>168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Helvetica Neue</vt:lpstr>
      <vt:lpstr>Arial</vt:lpstr>
      <vt:lpstr>Times New Roman</vt:lpstr>
      <vt:lpstr>Helvetica Neue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Havyas</dc:creator>
  <cp:lastModifiedBy>HAVYAS B</cp:lastModifiedBy>
  <cp:revision>1</cp:revision>
  <dcterms:modified xsi:type="dcterms:W3CDTF">2026-03-30T12:06:16Z</dcterms:modified>
</cp:coreProperties>
</file>