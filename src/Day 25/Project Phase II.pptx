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notesMasterIdLst>
    <p:notesMasterId r:id="rId19"/>
  </p:notesMasterIdLst>
  <p:sldIdLst>
    <p:sldId id="256" r:id="rId6"/>
    <p:sldId id="257" r:id="rId7"/>
    <p:sldId id="264" r:id="rId8"/>
    <p:sldId id="258" r:id="rId9"/>
    <p:sldId id="269" r:id="rId10"/>
    <p:sldId id="259" r:id="rId11"/>
    <p:sldId id="260" r:id="rId12"/>
    <p:sldId id="261" r:id="rId13"/>
    <p:sldId id="262" r:id="rId14"/>
    <p:sldId id="265" r:id="rId15"/>
    <p:sldId id="268" r:id="rId16"/>
    <p:sldId id="266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2C6"/>
    <a:srgbClr val="4C10B8"/>
    <a:srgbClr val="491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9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16:47:35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16:47:47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16:48:40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IN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IN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669839B-A827-44CD-8C4E-2267E88799EA}" type="slidenum">
              <a:rPr lang="en-IN" sz="1400" b="0" strike="noStrike" spc="-1"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848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t">
            <a:noAutofit/>
          </a:bodyPr>
          <a:lstStyle/>
          <a:p>
            <a:endParaRPr lang="en-IN" sz="20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6"/>
          </p:nvPr>
        </p:nvSpPr>
        <p:spPr>
          <a:xfrm>
            <a:off x="3886200" y="8686800"/>
            <a:ext cx="2971080" cy="4564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6B64A9-FA00-406E-BB08-092CAA7A74F3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IN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algn="r">
              <a:buNone/>
            </a:pPr>
            <a:fld id="{5669839B-A827-44CD-8C4E-2267E88799EA}" type="slidenum">
              <a:rPr lang="en-IN" sz="1400" b="0" strike="noStrike" spc="-1" smtClean="0">
                <a:latin typeface="Times New Roman"/>
              </a:rPr>
              <a:t>5</a:t>
            </a:fld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7081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algn="r">
              <a:buNone/>
            </a:pPr>
            <a:fld id="{5669839B-A827-44CD-8C4E-2267E88799EA}" type="slidenum">
              <a:rPr lang="en-IN" sz="1400" b="0" strike="noStrike" spc="-1" smtClean="0">
                <a:latin typeface="Times New Roman"/>
              </a:rPr>
              <a:t>7</a:t>
            </a:fld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61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763588"/>
            <a:ext cx="5030787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algn="r">
              <a:buNone/>
            </a:pPr>
            <a:fld id="{5669839B-A827-44CD-8C4E-2267E88799EA}" type="slidenum">
              <a:rPr lang="en-IN" sz="1400" b="0" strike="noStrike" spc="-1" smtClean="0">
                <a:latin typeface="Times New Roman"/>
              </a:rPr>
              <a:t>12</a:t>
            </a:fld>
            <a:endParaRPr lang="en-IN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036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ACD42B52-761E-4175-8EEE-BCF5FC16CE9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B99CB09-119C-4A58-B491-83D86822E60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7879CEE-7875-4E93-8F53-3FDDC558166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152862B-547F-40BB-BD9D-A31A58D5E8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4A2C23B-6D6A-4674-8F24-F769C087107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05B04FA-68F4-41C1-81F8-0C561ED9CA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987B9E0-AB29-4F1C-A10A-C685EEC8369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BD57BC7-05EB-4C6F-997A-A7C96973E5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53B9C0B-0BB3-4F14-BD5E-B8F1504554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747F13D-20E1-4A27-8483-A0AE73EEE6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1688652-EC5F-4FFA-9E02-1BD9B013B62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2F09B29-24AA-4454-B57C-4DA5EF29267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1D4583C-B6A1-4371-89AE-392C79BD1C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C83BE41-51D2-46DF-9594-DEE62BC495B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BD1CD5-DED6-41D1-A856-EC00C677668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4AE7DAF-4C26-4F83-856B-FE6BFB4CB5D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2C8C1FD-ACFF-42D6-B89B-9A4DBDF630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364EEF4-81B3-4F4F-B169-56FC4713E18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D8948F9-9FF5-4663-94A7-AC9F3B83C45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DBEB132-FA48-47CD-AF63-3A2F9851B7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226DB6-21B5-4BC1-80BF-A3FA6C7670E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1E953A7-2C82-4D92-A5E5-0B56BBE6B6A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5A004B-88FA-4AF3-90C1-19F667252D9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45B4752-F13E-4242-ABD7-F409264266A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80000" y="0"/>
            <a:ext cx="9539640" cy="719640"/>
          </a:xfrm>
          <a:prstGeom prst="rect">
            <a:avLst/>
          </a:prstGeom>
          <a:solidFill>
            <a:srgbClr val="103D6D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Rectangle 1"/>
          <p:cNvSpPr/>
          <p:nvPr/>
        </p:nvSpPr>
        <p:spPr>
          <a:xfrm>
            <a:off x="720000" y="180360"/>
            <a:ext cx="773748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Times New Roman"/>
              </a:rPr>
              <a:t>DEPARTMENT OF MCA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200" cy="95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r>
              <a:rPr lang="en-IN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6553080" y="6248520"/>
            <a:ext cx="1904400" cy="4564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D7A8BE-B2AE-41C3-8C61-57E57C5D211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traight Connector 6"/>
          <p:cNvSpPr/>
          <p:nvPr/>
        </p:nvSpPr>
        <p:spPr>
          <a:xfrm flipV="1">
            <a:off x="238320" y="6275880"/>
            <a:ext cx="8719920" cy="3960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2" name="Picture 41"/>
          <p:cNvPicPr/>
          <p:nvPr/>
        </p:nvPicPr>
        <p:blipFill>
          <a:blip r:embed="rId14">
            <a:alphaModFix amt="20000"/>
          </a:blip>
          <a:stretch/>
        </p:blipFill>
        <p:spPr>
          <a:xfrm>
            <a:off x="1620000" y="720000"/>
            <a:ext cx="5399640" cy="5399640"/>
          </a:xfrm>
          <a:prstGeom prst="rect">
            <a:avLst/>
          </a:prstGeom>
          <a:ln w="0">
            <a:noFill/>
          </a:ln>
        </p:spPr>
      </p:pic>
      <p:sp>
        <p:nvSpPr>
          <p:cNvPr id="43" name="Rectangle 5"/>
          <p:cNvSpPr/>
          <p:nvPr/>
        </p:nvSpPr>
        <p:spPr>
          <a:xfrm>
            <a:off x="259200" y="6392880"/>
            <a:ext cx="5687640" cy="4564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Department of MCA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sldNum" idx="2"/>
          </p:nvPr>
        </p:nvSpPr>
        <p:spPr>
          <a:xfrm>
            <a:off x="6553080" y="6392520"/>
            <a:ext cx="1904400" cy="456480"/>
          </a:xfrm>
          <a:prstGeom prst="rect">
            <a:avLst/>
          </a:prstGeom>
          <a:noFill/>
          <a:ln w="9360">
            <a:noFill/>
          </a:ln>
        </p:spPr>
        <p:txBody>
          <a:bodyPr lIns="90000" tIns="45000" rIns="90000" bIns="45000" numCol="1" spcCol="0" anchor="t">
            <a:noAutofit/>
          </a:bodyPr>
          <a:lstStyle>
            <a:lvl1pPr algn="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5F394F-97D8-402F-811C-9378B7E98F19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872320" y="5393520"/>
            <a:ext cx="3271680" cy="106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0000FF"/>
                </a:solidFill>
                <a:latin typeface="Times New Roman"/>
              </a:rPr>
              <a:t>Pavithra</a:t>
            </a:r>
            <a:br>
              <a:rPr sz="2400" dirty="0"/>
            </a:br>
            <a:r>
              <a:rPr lang="en-US" sz="2400" b="1" spc="-1" dirty="0">
                <a:solidFill>
                  <a:srgbClr val="0000FF"/>
                </a:solidFill>
                <a:latin typeface="Times New Roman"/>
              </a:rPr>
              <a:t>4VP24MC032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722160" y="720000"/>
            <a:ext cx="7737480" cy="110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  <a:tabLst>
                <a:tab pos="0" algn="l"/>
              </a:tabLs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Damage Detection and Insurance Claim System</a:t>
            </a:r>
            <a:endParaRPr lang="en-IN" sz="54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1" name="Picture 90"/>
          <p:cNvPicPr/>
          <p:nvPr/>
        </p:nvPicPr>
        <p:blipFill>
          <a:blip r:embed="rId3"/>
          <a:stretch/>
        </p:blipFill>
        <p:spPr>
          <a:xfrm>
            <a:off x="2251080" y="1374316"/>
            <a:ext cx="4679640" cy="4679640"/>
          </a:xfrm>
          <a:prstGeom prst="rect">
            <a:avLst/>
          </a:prstGeom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1300320" y="5393520"/>
            <a:ext cx="3271680" cy="10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0000FF"/>
                </a:solidFill>
                <a:latin typeface="Times New Roman"/>
              </a:rPr>
              <a:t>Prof. Anil Kumar K</a:t>
            </a:r>
            <a:br>
              <a:rPr lang="en-US" sz="2400" dirty="0"/>
            </a:br>
            <a:r>
              <a:rPr lang="en-US" sz="2400" b="1" spc="-1" dirty="0">
                <a:solidFill>
                  <a:srgbClr val="0000FF"/>
                </a:solidFill>
                <a:latin typeface="Times New Roman"/>
              </a:rPr>
              <a:t>Assistant Professor</a:t>
            </a:r>
            <a:endParaRPr lang="en-US" sz="2400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200" cy="95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00FF"/>
                </a:solidFill>
                <a:latin typeface="Times New Roman"/>
              </a:rPr>
              <a:t>Contents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12306" y="1222831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buNone/>
            </a:pP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Objectives</a:t>
            </a:r>
            <a:endParaRPr lang="en-IN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Helvetica;Arial"/>
              </a:rPr>
              <a:t>Literature review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latin typeface="Times New Roman"/>
                <a:ea typeface="Noto Sans CJK SC"/>
              </a:rPr>
              <a:t>Design Phase</a:t>
            </a:r>
            <a:endParaRPr lang="en-IN" sz="240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Implementation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Results and Discussion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Conclusion 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Future Enhancements</a:t>
            </a:r>
          </a:p>
          <a:p>
            <a:pPr>
              <a:lnSpc>
                <a:spcPct val="100000"/>
              </a:lnSpc>
              <a:spcBef>
                <a:spcPts val="479"/>
              </a:spcBef>
              <a:buClr>
                <a:srgbClr val="3333CC"/>
              </a:buClr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  <a:ea typeface="Helvetica;Arial"/>
              </a:rPr>
              <a:t>References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F3A5A8-8DF4-4818-8FD9-8FC06FF9646D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2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Introduction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automated and efficient solution for vehicle damage assessment and insurance claim processing.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computer vision and deep learning to detect damages like dents, scratches, and cracks from uploaded images.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identifies damaged areas, estimates repair costs, and generates detailed reports for quick decision-making.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register, manage profiles, view insurance plans, apply for claims, and make payments within the system.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agents can verify claims, approve estimates, and schedule payments, ensuring faster, accurate, and transparent claim processing.</a:t>
            </a:r>
          </a:p>
          <a:p>
            <a:endParaRPr lang="en-IN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26FB8AA-B3F7-48F3-A844-8CED66367FCC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8113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38680" y="480368"/>
            <a:ext cx="87192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00FF"/>
                </a:solidFill>
                <a:latin typeface="Times New Roman"/>
                <a:ea typeface="Noto Sans CJK SC"/>
              </a:rPr>
              <a:t>Objectives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238680" y="1566960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algn="just"/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spc="-1">
                <a:latin typeface="Times New Roman" panose="02020603050405020304" pitchFamily="18" charset="0"/>
                <a:cs typeface="Times New Roman" panose="02020603050405020304" pitchFamily="18" charset="0"/>
              </a:rPr>
              <a:t>etection </a:t>
            </a:r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classification of vehicle damages using deep learning.</a:t>
            </a:r>
          </a:p>
          <a:p>
            <a:pPr algn="just"/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detailed damage reports pdf with confidence scores .</a:t>
            </a:r>
          </a:p>
          <a:p>
            <a:pPr algn="just"/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cost estimation and efficient payment processing for the approved claims.</a:t>
            </a:r>
          </a:p>
          <a:p>
            <a:pPr algn="just"/>
            <a:r>
              <a:rPr lang="en-US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easy to apply, track the status, and manage insurance claims.</a:t>
            </a:r>
            <a:endParaRPr lang="en-IN" sz="24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26FB8AA-B3F7-48F3-A844-8CED66367FCC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D468-CF44-DEB3-119F-1CBED95B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"/>
            <a:ext cx="8229240" cy="879988"/>
          </a:xfrm>
        </p:spPr>
        <p:txBody>
          <a:bodyPr/>
          <a:lstStyle/>
          <a:p>
            <a:r>
              <a:rPr lang="en-US" b="1" spc="-1" dirty="0">
                <a:solidFill>
                  <a:srgbClr val="0000FF"/>
                </a:solidFill>
                <a:latin typeface="Times New Roman"/>
                <a:ea typeface="Noto Sans CJK SC"/>
              </a:rPr>
              <a:t>            Literature Review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A93EB-BEBE-8B63-3DA7-1E79F32D97D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415845"/>
            <a:ext cx="8229240" cy="4562167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BC479E-AB87-5497-CF81-D4572ED69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302675"/>
              </p:ext>
            </p:extLst>
          </p:nvPr>
        </p:nvGraphicFramePr>
        <p:xfrm>
          <a:off x="457198" y="879989"/>
          <a:ext cx="8303343" cy="5098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495">
                  <a:extLst>
                    <a:ext uri="{9D8B030D-6E8A-4147-A177-3AD203B41FA5}">
                      <a16:colId xmlns:a16="http://schemas.microsoft.com/office/drawing/2014/main" val="859290300"/>
                    </a:ext>
                  </a:extLst>
                </a:gridCol>
                <a:gridCol w="2084912">
                  <a:extLst>
                    <a:ext uri="{9D8B030D-6E8A-4147-A177-3AD203B41FA5}">
                      <a16:colId xmlns:a16="http://schemas.microsoft.com/office/drawing/2014/main" val="598340828"/>
                    </a:ext>
                  </a:extLst>
                </a:gridCol>
                <a:gridCol w="4192936">
                  <a:extLst>
                    <a:ext uri="{9D8B030D-6E8A-4147-A177-3AD203B41FA5}">
                      <a16:colId xmlns:a16="http://schemas.microsoft.com/office/drawing/2014/main" val="2310583244"/>
                    </a:ext>
                  </a:extLst>
                </a:gridCol>
              </a:tblGrid>
              <a:tr h="710811">
                <a:tc>
                  <a:txBody>
                    <a:bodyPr/>
                    <a:lstStyle/>
                    <a:p>
                      <a:r>
                        <a:rPr lang="en-IN" sz="2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endParaRPr lang="en-IN" sz="24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Author&amp;Year</a:t>
                      </a:r>
                      <a:endParaRPr lang="en-IN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87903"/>
                  </a:ext>
                </a:extLst>
              </a:tr>
              <a:tr h="239611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based Car Damage Detection for Insurance Claim Settlement</a:t>
                      </a:r>
                      <a:endParaRPr lang="en-IN" sz="1800" dirty="0"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solidFill>
                          <a:schemeClr val="tx1"/>
                        </a:solidFill>
                        <a:highlight>
                          <a:srgbClr val="0000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Monas 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Chaubal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al.(2025)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ResNet-50, EfficientNet-B0,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transfer learning and ensemble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 for car damage classification.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Works on TQVCD dataset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identifying front/rear orientation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damage categories. Improves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insurance claim automation and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reduces manual inspection.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779490"/>
                  </a:ext>
                </a:extLst>
              </a:tr>
              <a:tr h="1991095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Automated Damage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Detection and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Repair Cost Estimation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 Automobiles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Pindi Lokeswari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 al.(2025)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Mask R-CNN with ResNet50-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FPN for car damage segmentation.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Generates repair cost estimation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damage localization. Achieved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88.78% accuracy and 0.880 F1-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score.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82417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D4C4BB-F55E-D8CA-A76F-02E7BB90B9D9}"/>
              </a:ext>
            </a:extLst>
          </p:cNvPr>
          <p:cNvSpPr/>
          <p:nvPr/>
        </p:nvSpPr>
        <p:spPr>
          <a:xfrm>
            <a:off x="8200103" y="6492732"/>
            <a:ext cx="348685" cy="45719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07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D8FC85B-A9C2-49E1-B82A-D438402C3EBB}" type="slidenum">
              <a:rPr/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D5F179-FBB4-0B78-2392-A0446E6B2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512935"/>
              </p:ext>
            </p:extLst>
          </p:nvPr>
        </p:nvGraphicFramePr>
        <p:xfrm>
          <a:off x="270386" y="73448"/>
          <a:ext cx="8667137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362">
                  <a:extLst>
                    <a:ext uri="{9D8B030D-6E8A-4147-A177-3AD203B41FA5}">
                      <a16:colId xmlns:a16="http://schemas.microsoft.com/office/drawing/2014/main" val="1310056724"/>
                    </a:ext>
                  </a:extLst>
                </a:gridCol>
                <a:gridCol w="1949851">
                  <a:extLst>
                    <a:ext uri="{9D8B030D-6E8A-4147-A177-3AD203B41FA5}">
                      <a16:colId xmlns:a16="http://schemas.microsoft.com/office/drawing/2014/main" val="2536488256"/>
                    </a:ext>
                  </a:extLst>
                </a:gridCol>
                <a:gridCol w="4399924">
                  <a:extLst>
                    <a:ext uri="{9D8B030D-6E8A-4147-A177-3AD203B41FA5}">
                      <a16:colId xmlns:a16="http://schemas.microsoft.com/office/drawing/2014/main" val="2751544504"/>
                    </a:ext>
                  </a:extLst>
                </a:gridCol>
              </a:tblGrid>
              <a:tr h="2527722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Image-Based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Classification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 Accident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Detection and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Insurance Claim using Machine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Rithik M., SP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Chokkalingam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CNN for accident detection,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U-Net for segmentation-based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damage assessment, and Gradient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Boosting Machine (GBM) for insurance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claim amount prediction.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Dataset: VAID (10,000 images).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Achieves 94% accident detection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 and 88% claim classification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15116"/>
                  </a:ext>
                </a:extLst>
              </a:tr>
              <a:tr h="1986067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 Damage Assessment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 Automate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Insurance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Claim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Siddhant Gole et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al.(2022)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End-to-end system using Mask RCNN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Faster R-CNN for detecting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scratches, dents, broken glass,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etc. Also includes license plate, car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type, and logo verification. Generates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damage cost reports to reduce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claim leakage and manual errors.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773967"/>
                  </a:ext>
                </a:extLst>
              </a:tr>
              <a:tr h="17152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 Damage Detection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using Machine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Girish N., Mohammed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Aqeel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Arshad(2021)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Mask R-CNN with transfer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 on a small COCO-format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dataset. Detects car damage location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type. Focuses on object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segmentation and damage detection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 insurance workflow automation.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70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5090" y="-76835"/>
            <a:ext cx="8719200" cy="6948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00FF"/>
                </a:solidFill>
                <a:latin typeface="Times New Roman"/>
                <a:ea typeface="Noto Sans CJK SC"/>
              </a:rPr>
              <a:t>Design Phase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778520B-D415-4841-A6ED-50FEF08EC240}" type="slidenum">
              <a:rPr/>
              <a:t>7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01FD5F8-9B2E-BC23-D2B5-A5FD477CBC2C}"/>
                  </a:ext>
                </a:extLst>
              </p14:cNvPr>
              <p14:cNvContentPartPr/>
              <p14:nvPr/>
            </p14:nvContentPartPr>
            <p14:xfrm>
              <a:off x="1867850" y="44736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01FD5F8-9B2E-BC23-D2B5-A5FD477CBC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3530" y="4469319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2A0DE1-5707-ED7B-AC5E-D0AAAF78BABD}"/>
                  </a:ext>
                </a:extLst>
              </p14:cNvPr>
              <p14:cNvContentPartPr/>
              <p14:nvPr/>
            </p14:nvContentPartPr>
            <p14:xfrm>
              <a:off x="-1268470" y="1091079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2A0DE1-5707-ED7B-AC5E-D0AAAF78BA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72790" y="1086759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88BAE0F-C302-2A4C-9472-A9268CB0528A}"/>
                  </a:ext>
                </a:extLst>
              </p14:cNvPr>
              <p14:cNvContentPartPr/>
              <p14:nvPr/>
            </p14:nvContentPartPr>
            <p14:xfrm>
              <a:off x="4660370" y="2104119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88BAE0F-C302-2A4C-9472-A9268CB052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6050" y="2099799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E6627D8-9663-D1E1-04D5-4C69CACDF53F}"/>
              </a:ext>
            </a:extLst>
          </p:cNvPr>
          <p:cNvSpPr txBox="1"/>
          <p:nvPr/>
        </p:nvSpPr>
        <p:spPr>
          <a:xfrm>
            <a:off x="857265" y="5825354"/>
            <a:ext cx="789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1.1: Flowchart of </a:t>
            </a:r>
            <a:r>
              <a:rPr lang="en-IN" dirty="0"/>
              <a:t>Car Damage Detection and Insurance Claim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11C148-6FC4-AB19-B0C7-BD72E23012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455" y="663314"/>
            <a:ext cx="6899563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745839"/>
            <a:ext cx="87192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Implementation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B61A98F-D237-4DEB-9B4E-D8C622191241}" type="slidenum">
              <a:rPr/>
              <a:t>8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4511E-BF45-C27A-4531-95112034BAD4}"/>
              </a:ext>
            </a:extLst>
          </p:cNvPr>
          <p:cNvSpPr txBox="1"/>
          <p:nvPr/>
        </p:nvSpPr>
        <p:spPr>
          <a:xfrm>
            <a:off x="2787445" y="2538869"/>
            <a:ext cx="6538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http://127.0.0.1:5008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0672" y="96457"/>
            <a:ext cx="87192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Results and Discussion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CD769E-E5B1-444B-8823-7C047E6DBD43}" type="slidenum">
              <a:rPr/>
              <a:t>9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9EBD7E-FB7C-8542-C6DB-0A2E1421D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909962"/>
              </p:ext>
            </p:extLst>
          </p:nvPr>
        </p:nvGraphicFramePr>
        <p:xfrm>
          <a:off x="1995947" y="3281516"/>
          <a:ext cx="4365523" cy="2593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5052">
                  <a:extLst>
                    <a:ext uri="{9D8B030D-6E8A-4147-A177-3AD203B41FA5}">
                      <a16:colId xmlns:a16="http://schemas.microsoft.com/office/drawing/2014/main" val="3808764740"/>
                    </a:ext>
                  </a:extLst>
                </a:gridCol>
                <a:gridCol w="2040471">
                  <a:extLst>
                    <a:ext uri="{9D8B030D-6E8A-4147-A177-3AD203B41FA5}">
                      <a16:colId xmlns:a16="http://schemas.microsoft.com/office/drawing/2014/main" val="3656906621"/>
                    </a:ext>
                  </a:extLst>
                </a:gridCol>
              </a:tblGrid>
              <a:tr h="907764">
                <a:tc>
                  <a:txBody>
                    <a:bodyPr/>
                    <a:lstStyle/>
                    <a:p>
                      <a:pPr algn="ctr"/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</a:t>
                      </a:r>
                    </a:p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57%</a:t>
                      </a:r>
                      <a:endParaRPr lang="en-IN" sz="2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445341"/>
                  </a:ext>
                </a:extLst>
              </a:tr>
              <a:tr h="862289">
                <a:tc>
                  <a:txBody>
                    <a:bodyPr/>
                    <a:lstStyle/>
                    <a:p>
                      <a:pPr algn="ctr"/>
                      <a:endParaRPr kumimoji="0" lang="en-US" altLang="en-US" sz="2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kumimoji="0" lang="en-US" altLang="en-US" sz="240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</a:t>
                      </a:r>
                    </a:p>
                    <a:p>
                      <a:pPr algn="l"/>
                      <a:r>
                        <a:rPr kumimoji="0" lang="en-US" altLang="en-US" sz="240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49.3% 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53667"/>
                  </a:ext>
                </a:extLst>
              </a:tr>
              <a:tr h="646717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  <a:p>
                      <a:pPr algn="ctr"/>
                      <a:r>
                        <a:rPr lang="en-US" sz="2000" dirty="0"/>
                        <a:t>F1-Score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0" lang="en-US" altLang="en-US" sz="240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kumimoji="0" lang="en-US" altLang="en-US" sz="240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53% </a:t>
                      </a:r>
                      <a:endParaRPr lang="en-IN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3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33E1601-F638-F4BD-D9BC-BDD03448601C}"/>
              </a:ext>
            </a:extLst>
          </p:cNvPr>
          <p:cNvSpPr txBox="1"/>
          <p:nvPr/>
        </p:nvSpPr>
        <p:spPr>
          <a:xfrm>
            <a:off x="575187" y="904458"/>
            <a:ext cx="79936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moderate precision (57%), showing reasonable accuracy in identifying actual vehicle damages.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recall of 49.3% indicates that some real damages were missed, especially minor ones.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F1-score of 53% reflects balanced but improvable overall performance.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38680" y="185400"/>
            <a:ext cx="87192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strike="noStrike" spc="-1" dirty="0">
                <a:solidFill>
                  <a:srgbClr val="0000FF"/>
                </a:solidFill>
                <a:latin typeface="Times New Roman"/>
              </a:rPr>
              <a:t>Conclus</a:t>
            </a: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ion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238680" y="1262160"/>
            <a:ext cx="8719200" cy="4740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fast and automated solution for car damage assessment and insurance claim processing.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like YOLOv8 help in accurate damage detection, classification, and cost estimation.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for user management, claim submission, payment processing, and admin verification ensure a smooth workflow.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manual work, minimizes errors, and speeds up decision-making.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efficiency, transparency, and user experience for both customers and insurance providers.</a:t>
            </a:r>
          </a:p>
          <a:p>
            <a:endParaRPr lang="en-IN" sz="32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CD769E-E5B1-444B-8823-7C047E6DBD43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71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65E9-0755-0939-D0A3-5917AC19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98" y="619432"/>
            <a:ext cx="8229240" cy="1132413"/>
          </a:xfrm>
        </p:spPr>
        <p:txBody>
          <a:bodyPr/>
          <a:lstStyle/>
          <a:p>
            <a:r>
              <a:rPr lang="en-US" b="1" spc="-1" dirty="0">
                <a:solidFill>
                  <a:srgbClr val="2C02C6"/>
                </a:solidFill>
                <a:latin typeface="Times New Roman"/>
              </a:rPr>
              <a:t>           Future Enhancements</a:t>
            </a:r>
            <a:endParaRPr lang="en-IN" b="1" dirty="0">
              <a:solidFill>
                <a:srgbClr val="2C02C6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3AE57-431E-32BF-32F4-A482EC8AED8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11162" y="847278"/>
            <a:ext cx="8229240" cy="44493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 for claim submission and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3D damage analysis for more precise assessment.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user feedback loops to improve detection accuracy over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63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12400" y="-69658"/>
            <a:ext cx="8719200" cy="61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b="1" spc="-1" dirty="0">
                <a:solidFill>
                  <a:srgbClr val="0000FF"/>
                </a:solidFill>
                <a:latin typeface="Times New Roman"/>
              </a:rPr>
              <a:t>References</a:t>
            </a:r>
            <a:endParaRPr lang="en-IN" sz="4400" b="0" strike="noStrike" spc="-1" dirty="0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14077" y="549182"/>
            <a:ext cx="8719200" cy="56077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Chaubal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Kudai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Champanerkar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  learning–based car damage detection for insurance claim settlement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Proceedings of the 3rd International Conference on Inventive Computing and Informatics (ICICI-2025) (pp. 1645–1646). IEEE.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Lokeswari, P., Kumar, G. K., &amp; Tejaswini, Y.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damage detection and repair cost estimation for automobiles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Proceedings of the 3rd International Conference on Inventive Computing and Informatics (ICICI-2025) (pp. 1645–1646). IEEE.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Rithik, M., &amp; Chokkalingam, S. P. (2024). Image-based classification for vehicle accident detection and insurance claim using artificial intelligence. In Proceedings of the International Conference on Emerging Systems and Intelligent Computing (ESIC-2024) (pp. 521–528). IEEE.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Gole, S., Gupta, P., Patil, G. S.,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Vijayavel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(2022).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damage assessment to automate insurance claim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Research Journal of Engineering and Technology (IRJET), 9(3), 1811–1814.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N., &amp; Arshad, M. A. (2021). Car damage detection using machine learning.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and Communication Engineering (IJARCCE), 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(8),725-728.</a:t>
            </a:r>
            <a:endParaRPr lang="en-IN" sz="200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CD769E-E5B1-444B-8823-7C047E6DBD43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43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/>
          <p:nvPr/>
        </p:nvSpPr>
        <p:spPr>
          <a:xfrm>
            <a:off x="540000" y="5095800"/>
            <a:ext cx="781272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50" b="1" strike="noStrike" spc="32" dirty="0">
                <a:solidFill>
                  <a:srgbClr val="0000FF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Thank you</a:t>
            </a:r>
            <a:endParaRPr lang="en-IN" sz="405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2DB2716-1E23-4802-B748-233E59801361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9EE3DD53B81C4EA3495067B343153F" ma:contentTypeVersion="6" ma:contentTypeDescription="Create a new document." ma:contentTypeScope="" ma:versionID="6febd99dfe04ffd01e768fa0ecc6536b">
  <xsd:schema xmlns:xsd="http://www.w3.org/2001/XMLSchema" xmlns:xs="http://www.w3.org/2001/XMLSchema" xmlns:p="http://schemas.microsoft.com/office/2006/metadata/properties" xmlns:ns2="025d5e12-f420-4cf4-9632-a0dafff4134e" xmlns:ns3="be4f81ed-bc23-4686-8e7f-1fdb9117ba26" targetNamespace="http://schemas.microsoft.com/office/2006/metadata/properties" ma:root="true" ma:fieldsID="797328dff3afc96ca9a6f0d250a53f67" ns2:_="" ns3:_="">
    <xsd:import namespace="025d5e12-f420-4cf4-9632-a0dafff4134e"/>
    <xsd:import namespace="be4f81ed-bc23-4686-8e7f-1fdb9117ba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d5e12-f420-4cf4-9632-a0dafff413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f81ed-bc23-4686-8e7f-1fdb9117ba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14E6E9-435A-4375-9EF2-ADE76B4EFD2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7A444EE-4760-41D8-B736-DB08D1EDC6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4AE583-610F-4C04-B45D-52FE03B5D7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5d5e12-f420-4cf4-9632-a0dafff4134e"/>
    <ds:schemaRef ds:uri="be4f81ed-bc23-4686-8e7f-1fdb9117ba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692</TotalTime>
  <Words>907</Words>
  <Application>Microsoft Office PowerPoint</Application>
  <PresentationFormat>On-screen Show (4:3)</PresentationFormat>
  <Paragraphs>146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Symbol</vt:lpstr>
      <vt:lpstr>Times New Roman</vt:lpstr>
      <vt:lpstr>Wingdings</vt:lpstr>
      <vt:lpstr>Office Theme</vt:lpstr>
      <vt:lpstr>Office Theme</vt:lpstr>
      <vt:lpstr>Pavithra 4VP24MC032</vt:lpstr>
      <vt:lpstr>Contents</vt:lpstr>
      <vt:lpstr>Introduction</vt:lpstr>
      <vt:lpstr>Objectives</vt:lpstr>
      <vt:lpstr>            Literature Review</vt:lpstr>
      <vt:lpstr>PowerPoint Presentation</vt:lpstr>
      <vt:lpstr>Design Phase</vt:lpstr>
      <vt:lpstr>Implementation</vt:lpstr>
      <vt:lpstr>Results and Discussion</vt:lpstr>
      <vt:lpstr>Conclusion</vt:lpstr>
      <vt:lpstr>           Future Enhancements</vt:lpstr>
      <vt:lpstr>References</vt:lpstr>
      <vt:lpstr>PowerPoint Presentation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Jyothi Mani</dc:creator>
  <dc:description/>
  <cp:lastModifiedBy>Prashanth Kumar</cp:lastModifiedBy>
  <cp:revision>38</cp:revision>
  <dcterms:created xsi:type="dcterms:W3CDTF">2023-04-30T20:06:37Z</dcterms:created>
  <dcterms:modified xsi:type="dcterms:W3CDTF">2026-03-09T09:54:22Z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(4:3)</vt:lpwstr>
  </property>
  <property fmtid="{D5CDD505-2E9C-101B-9397-08002B2CF9AE}" pid="4" name="Slides">
    <vt:r8>19</vt:r8>
  </property>
  <property fmtid="{D5CDD505-2E9C-101B-9397-08002B2CF9AE}" pid="5" name="ContentTypeId">
    <vt:lpwstr>0x010100C79EE3DD53B81C4EA3495067B343153F</vt:lpwstr>
  </property>
</Properties>
</file>