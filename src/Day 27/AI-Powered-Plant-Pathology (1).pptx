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ter"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213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slide" Target="slide10.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33475"/>
            <a:ext cx="8350209" cy="3046453"/>
          </a:xfrm>
          <a:prstGeom prst="rect">
            <a:avLst/>
          </a:prstGeom>
          <a:noFill/>
          <a:ln/>
        </p:spPr>
        <p:txBody>
          <a:bodyPr wrap="square" lIns="0" tIns="0" rIns="0" bIns="0" rtlCol="0" anchor="t"/>
          <a:lstStyle/>
          <a:p>
            <a:pPr algn="ctr">
              <a:lnSpc>
                <a:spcPts val="6100"/>
              </a:lnSpc>
            </a:pPr>
            <a:r>
              <a:rPr lang="en-US" sz="5400" dirty="0"/>
              <a:t>Leaf Disease Detection System Using Machine Learning</a:t>
            </a:r>
            <a:endParaRPr lang="en-US" sz="4900" dirty="0"/>
          </a:p>
        </p:txBody>
      </p:sp>
      <p:sp>
        <p:nvSpPr>
          <p:cNvPr id="4" name="Text 1"/>
          <p:cNvSpPr/>
          <p:nvPr/>
        </p:nvSpPr>
        <p:spPr>
          <a:xfrm>
            <a:off x="6280190" y="4520089"/>
            <a:ext cx="7556421" cy="1088708"/>
          </a:xfrm>
          <a:prstGeom prst="rect">
            <a:avLst/>
          </a:prstGeom>
          <a:noFill/>
          <a:ln/>
        </p:spPr>
        <p:txBody>
          <a:bodyPr wrap="square" lIns="0" tIns="0" rIns="0" bIns="0" rtlCol="0" anchor="t"/>
          <a:lstStyle/>
          <a:p>
            <a:pPr marL="0" indent="0" algn="l">
              <a:lnSpc>
                <a:spcPts val="2850"/>
              </a:lnSpc>
              <a:buNone/>
            </a:pPr>
            <a:r>
              <a:rPr lang="en-US" sz="2400" dirty="0"/>
              <a:t>Presented By Team : </a:t>
            </a:r>
          </a:p>
        </p:txBody>
      </p:sp>
      <p:sp>
        <p:nvSpPr>
          <p:cNvPr id="6" name="Rectangle 5">
            <a:extLst>
              <a:ext uri="{FF2B5EF4-FFF2-40B4-BE49-F238E27FC236}">
                <a16:creationId xmlns:a16="http://schemas.microsoft.com/office/drawing/2014/main" id="{281E937A-1A9A-D533-4E5B-57F3A8AFD807}"/>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hlinkClick r:id="rId4" action="ppaction://hlinksldjump"/>
              </a:rPr>
              <a:t>Next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41365" y="596622"/>
            <a:ext cx="6433542" cy="623649"/>
          </a:xfrm>
          <a:prstGeom prst="rect">
            <a:avLst/>
          </a:prstGeom>
          <a:noFill/>
          <a:ln/>
        </p:spPr>
        <p:txBody>
          <a:bodyPr wrap="none" lIns="0" tIns="0" rIns="0" bIns="0" rtlCol="0" anchor="t"/>
          <a:lstStyle/>
          <a:p>
            <a:pPr marL="0" indent="0" algn="l">
              <a:lnSpc>
                <a:spcPts val="4900"/>
              </a:lnSpc>
              <a:buNone/>
            </a:pPr>
            <a:r>
              <a:rPr lang="en-US" sz="3900" b="1" dirty="0">
                <a:solidFill>
                  <a:srgbClr val="F95F88"/>
                </a:solidFill>
                <a:latin typeface="Petrona Bold" pitchFamily="34" charset="0"/>
                <a:ea typeface="Petrona Bold" pitchFamily="34" charset="-122"/>
                <a:cs typeface="Petrona Bold" pitchFamily="34" charset="-120"/>
              </a:rPr>
              <a:t>Introduction: The Challenge</a:t>
            </a:r>
            <a:endParaRPr lang="en-US" sz="3900" dirty="0"/>
          </a:p>
        </p:txBody>
      </p:sp>
      <p:sp>
        <p:nvSpPr>
          <p:cNvPr id="3" name="Text 1"/>
          <p:cNvSpPr/>
          <p:nvPr/>
        </p:nvSpPr>
        <p:spPr>
          <a:xfrm>
            <a:off x="542925" y="1752600"/>
            <a:ext cx="5619750" cy="5791200"/>
          </a:xfrm>
          <a:prstGeom prst="rect">
            <a:avLst/>
          </a:prstGeom>
          <a:noFill/>
          <a:ln/>
        </p:spPr>
        <p:txBody>
          <a:bodyPr wrap="square" lIns="0" tIns="0" rIns="0" bIns="0" rtlCol="0" anchor="t"/>
          <a:lstStyle/>
          <a:p>
            <a:pPr algn="just">
              <a:lnSpc>
                <a:spcPts val="2850"/>
              </a:lnSpc>
            </a:pPr>
            <a:r>
              <a:rPr lang="en-US" sz="2000" dirty="0"/>
              <a:t>Agriculture plays a vital role in ensuring food security, but crop production is often affected by various plant diseases. These diseases can reduce crop quality and yield if they are not detected at an early stage. Traditional methods of identifying plant diseases rely on manual inspection by experts, which can be time-consuming, expensive, and sometimes inaccurate. With the advancement of technology, Machine Learning (ML) provides an efficient solution for automatic disease detection. ML models can analyze leaf images and identify disease patterns quickly and accurately. A Leaf Disease Detection System using Machine Learning helps farmers detect plant diseases at an early stage and take timely action. This system improves crop productivity, reduces losses, and supports sustainable agriculture.</a:t>
            </a:r>
          </a:p>
        </p:txBody>
      </p:sp>
      <p:pic>
        <p:nvPicPr>
          <p:cNvPr id="5" name="Image 0" descr="preencoded.png"/>
          <p:cNvPicPr>
            <a:picLocks noChangeAspect="1"/>
          </p:cNvPicPr>
          <p:nvPr/>
        </p:nvPicPr>
        <p:blipFill>
          <a:blip r:embed="rId3"/>
          <a:stretch>
            <a:fillRect/>
          </a:stretch>
        </p:blipFill>
        <p:spPr>
          <a:xfrm>
            <a:off x="6362700" y="1752600"/>
            <a:ext cx="8267700" cy="5791200"/>
          </a:xfrm>
          <a:prstGeom prst="rect">
            <a:avLst/>
          </a:prstGeom>
        </p:spPr>
      </p:pic>
      <p:sp>
        <p:nvSpPr>
          <p:cNvPr id="6" name="Rectangle 5">
            <a:extLst>
              <a:ext uri="{FF2B5EF4-FFF2-40B4-BE49-F238E27FC236}">
                <a16:creationId xmlns:a16="http://schemas.microsoft.com/office/drawing/2014/main" id="{337A98C3-4DB0-65C4-DEC5-8C0F63AFC9B7}"/>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8414" y="909161"/>
            <a:ext cx="4990148" cy="623649"/>
          </a:xfrm>
          <a:prstGeom prst="rect">
            <a:avLst/>
          </a:prstGeom>
          <a:noFill/>
          <a:ln/>
        </p:spPr>
        <p:txBody>
          <a:bodyPr wrap="none" lIns="0" tIns="0" rIns="0" bIns="0" rtlCol="0" anchor="t"/>
          <a:lstStyle/>
          <a:p>
            <a:pPr marL="0" indent="0" algn="l">
              <a:lnSpc>
                <a:spcPts val="4900"/>
              </a:lnSpc>
              <a:buNone/>
            </a:pPr>
            <a:r>
              <a:rPr lang="en-US" sz="3900" b="1" dirty="0">
                <a:solidFill>
                  <a:srgbClr val="F95F88"/>
                </a:solidFill>
                <a:latin typeface="Petrona Bold" pitchFamily="34" charset="0"/>
                <a:ea typeface="Petrona Bold" pitchFamily="34" charset="-122"/>
                <a:cs typeface="Petrona Bold" pitchFamily="34" charset="-120"/>
              </a:rPr>
              <a:t>Objectives</a:t>
            </a:r>
            <a:endParaRPr lang="en-US" sz="3900" dirty="0"/>
          </a:p>
        </p:txBody>
      </p:sp>
      <p:sp>
        <p:nvSpPr>
          <p:cNvPr id="3" name="Shape 1"/>
          <p:cNvSpPr/>
          <p:nvPr/>
        </p:nvSpPr>
        <p:spPr>
          <a:xfrm>
            <a:off x="559355" y="1658898"/>
            <a:ext cx="6072158" cy="3236952"/>
          </a:xfrm>
          <a:prstGeom prst="roundRect">
            <a:avLst>
              <a:gd name="adj" fmla="val 3185"/>
            </a:avLst>
          </a:prstGeom>
          <a:solidFill>
            <a:srgbClr val="E0D7F4"/>
          </a:solidFill>
          <a:ln w="7620">
            <a:solidFill>
              <a:srgbClr val="C6BDDA"/>
            </a:solidFill>
            <a:prstDash val="solid"/>
          </a:ln>
        </p:spPr>
        <p:txBody>
          <a:bodyPr/>
          <a:lstStyle/>
          <a:p>
            <a:endParaRPr lang="en-US" dirty="0"/>
          </a:p>
        </p:txBody>
      </p:sp>
      <p:sp>
        <p:nvSpPr>
          <p:cNvPr id="4" name="Shape 2"/>
          <p:cNvSpPr/>
          <p:nvPr/>
        </p:nvSpPr>
        <p:spPr>
          <a:xfrm>
            <a:off x="688003" y="1661339"/>
            <a:ext cx="680442" cy="680442"/>
          </a:xfrm>
          <a:prstGeom prst="roundRect">
            <a:avLst>
              <a:gd name="adj" fmla="val 13436980"/>
            </a:avLst>
          </a:prstGeom>
          <a:solidFill>
            <a:srgbClr val="6237C8"/>
          </a:solidFill>
          <a:ln/>
        </p:spPr>
        <p:txBody>
          <a:bodyPr/>
          <a:lstStyle/>
          <a:p>
            <a:endParaRPr lang="en-US"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5169" y="1882616"/>
            <a:ext cx="306110" cy="306110"/>
          </a:xfrm>
          <a:prstGeom prst="rect">
            <a:avLst/>
          </a:prstGeom>
        </p:spPr>
      </p:pic>
      <p:sp>
        <p:nvSpPr>
          <p:cNvPr id="6" name="Text 3"/>
          <p:cNvSpPr/>
          <p:nvPr/>
        </p:nvSpPr>
        <p:spPr>
          <a:xfrm>
            <a:off x="800517" y="2560677"/>
            <a:ext cx="4892040" cy="389930"/>
          </a:xfrm>
          <a:prstGeom prst="rect">
            <a:avLst/>
          </a:prstGeom>
          <a:noFill/>
          <a:ln/>
        </p:spPr>
        <p:txBody>
          <a:bodyPr wrap="none" lIns="0" tIns="0" rIns="0" bIns="0" rtlCol="0" anchor="t"/>
          <a:lstStyle/>
          <a:p>
            <a:pPr>
              <a:lnSpc>
                <a:spcPts val="3050"/>
              </a:lnSpc>
            </a:pPr>
            <a:r>
              <a:rPr lang="en-US" sz="2400" b="1" dirty="0"/>
              <a:t>Early Detection of Plant Diseases</a:t>
            </a:r>
            <a:r>
              <a:rPr lang="en-US" sz="2400" dirty="0"/>
              <a:t> </a:t>
            </a:r>
          </a:p>
        </p:txBody>
      </p:sp>
      <p:sp>
        <p:nvSpPr>
          <p:cNvPr id="8" name="Shape 5"/>
          <p:cNvSpPr/>
          <p:nvPr/>
        </p:nvSpPr>
        <p:spPr>
          <a:xfrm>
            <a:off x="648414" y="5165378"/>
            <a:ext cx="6033091" cy="2574310"/>
          </a:xfrm>
          <a:prstGeom prst="roundRect">
            <a:avLst>
              <a:gd name="adj" fmla="val 3185"/>
            </a:avLst>
          </a:prstGeom>
          <a:solidFill>
            <a:srgbClr val="E0D7F4"/>
          </a:solidFill>
          <a:ln w="7620">
            <a:solidFill>
              <a:srgbClr val="C6BDDA"/>
            </a:solidFill>
            <a:prstDash val="solid"/>
          </a:ln>
        </p:spPr>
        <p:txBody>
          <a:bodyPr/>
          <a:lstStyle/>
          <a:p>
            <a:endParaRPr lang="en-US" dirty="0"/>
          </a:p>
        </p:txBody>
      </p:sp>
      <p:sp>
        <p:nvSpPr>
          <p:cNvPr id="9" name="Shape 6"/>
          <p:cNvSpPr/>
          <p:nvPr/>
        </p:nvSpPr>
        <p:spPr>
          <a:xfrm>
            <a:off x="732108" y="5320993"/>
            <a:ext cx="680442" cy="680442"/>
          </a:xfrm>
          <a:prstGeom prst="roundRect">
            <a:avLst>
              <a:gd name="adj" fmla="val 13436980"/>
            </a:avLst>
          </a:prstGeom>
          <a:solidFill>
            <a:srgbClr val="6237C8"/>
          </a:solidFill>
          <a:ln/>
        </p:spPr>
        <p:txBody>
          <a:bodyPr/>
          <a:lstStyle/>
          <a:p>
            <a:endParaRPr lang="en-US" dirty="0"/>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166" y="5508159"/>
            <a:ext cx="306110" cy="306110"/>
          </a:xfrm>
          <a:prstGeom prst="rect">
            <a:avLst/>
          </a:prstGeom>
        </p:spPr>
      </p:pic>
      <p:sp>
        <p:nvSpPr>
          <p:cNvPr id="11" name="Text 7"/>
          <p:cNvSpPr/>
          <p:nvPr/>
        </p:nvSpPr>
        <p:spPr>
          <a:xfrm>
            <a:off x="875169" y="6062603"/>
            <a:ext cx="4817388" cy="389930"/>
          </a:xfrm>
          <a:prstGeom prst="rect">
            <a:avLst/>
          </a:prstGeom>
          <a:noFill/>
          <a:ln/>
        </p:spPr>
        <p:txBody>
          <a:bodyPr wrap="none" lIns="0" tIns="0" rIns="0" bIns="0" rtlCol="0" anchor="t"/>
          <a:lstStyle/>
          <a:p>
            <a:pPr>
              <a:lnSpc>
                <a:spcPts val="3050"/>
              </a:lnSpc>
            </a:pPr>
            <a:r>
              <a:rPr lang="en-US" sz="2400" b="1" dirty="0"/>
              <a:t>Improve Accuracy in Disease Identification</a:t>
            </a:r>
          </a:p>
        </p:txBody>
      </p:sp>
      <p:sp>
        <p:nvSpPr>
          <p:cNvPr id="12" name="Text 8"/>
          <p:cNvSpPr/>
          <p:nvPr/>
        </p:nvSpPr>
        <p:spPr>
          <a:xfrm>
            <a:off x="911276" y="6568261"/>
            <a:ext cx="5368315" cy="725805"/>
          </a:xfrm>
          <a:prstGeom prst="rect">
            <a:avLst/>
          </a:prstGeom>
          <a:noFill/>
          <a:ln/>
        </p:spPr>
        <p:txBody>
          <a:bodyPr wrap="square" lIns="0" tIns="0" rIns="0" bIns="0" rtlCol="0" anchor="t"/>
          <a:lstStyle/>
          <a:p>
            <a:pPr>
              <a:lnSpc>
                <a:spcPts val="2850"/>
              </a:lnSpc>
            </a:pPr>
            <a:r>
              <a:rPr lang="en-US" sz="2000" dirty="0"/>
              <a:t>To provide accurate and reliable disease detection by analyzing leaf images using trained ML models.</a:t>
            </a:r>
          </a:p>
        </p:txBody>
      </p:sp>
      <p:sp>
        <p:nvSpPr>
          <p:cNvPr id="13" name="Shape 9"/>
          <p:cNvSpPr/>
          <p:nvPr/>
        </p:nvSpPr>
        <p:spPr>
          <a:xfrm>
            <a:off x="7998888" y="1698784"/>
            <a:ext cx="6159563" cy="2990850"/>
          </a:xfrm>
          <a:prstGeom prst="roundRect">
            <a:avLst>
              <a:gd name="adj" fmla="val 3185"/>
            </a:avLst>
          </a:prstGeom>
          <a:solidFill>
            <a:srgbClr val="E0D7F4"/>
          </a:solidFill>
          <a:ln w="7620">
            <a:solidFill>
              <a:srgbClr val="C6BDDA"/>
            </a:solidFill>
            <a:prstDash val="solid"/>
          </a:ln>
        </p:spPr>
        <p:txBody>
          <a:bodyPr/>
          <a:lstStyle/>
          <a:p>
            <a:endParaRPr lang="en-US" dirty="0"/>
          </a:p>
        </p:txBody>
      </p:sp>
      <p:sp>
        <p:nvSpPr>
          <p:cNvPr id="14" name="Shape 10"/>
          <p:cNvSpPr/>
          <p:nvPr/>
        </p:nvSpPr>
        <p:spPr>
          <a:xfrm>
            <a:off x="8230017" y="1814343"/>
            <a:ext cx="680442" cy="680442"/>
          </a:xfrm>
          <a:prstGeom prst="roundRect">
            <a:avLst>
              <a:gd name="adj" fmla="val 13436980"/>
            </a:avLst>
          </a:prstGeom>
          <a:solidFill>
            <a:srgbClr val="6237C8"/>
          </a:solidFill>
          <a:ln/>
        </p:spPr>
        <p:txBody>
          <a:bodyPr/>
          <a:lstStyle/>
          <a:p>
            <a:endParaRPr lang="en-US" dirty="0"/>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17183" y="2035671"/>
            <a:ext cx="306110" cy="306110"/>
          </a:xfrm>
          <a:prstGeom prst="rect">
            <a:avLst/>
          </a:prstGeom>
        </p:spPr>
      </p:pic>
      <p:sp>
        <p:nvSpPr>
          <p:cNvPr id="16" name="Text 11"/>
          <p:cNvSpPr/>
          <p:nvPr/>
        </p:nvSpPr>
        <p:spPr>
          <a:xfrm>
            <a:off x="8315147" y="2609314"/>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Accessibility</a:t>
            </a:r>
            <a:endParaRPr lang="en-US" sz="2450" dirty="0"/>
          </a:p>
        </p:txBody>
      </p:sp>
      <p:sp>
        <p:nvSpPr>
          <p:cNvPr id="17" name="Text 12"/>
          <p:cNvSpPr/>
          <p:nvPr/>
        </p:nvSpPr>
        <p:spPr>
          <a:xfrm>
            <a:off x="8394055" y="3135332"/>
            <a:ext cx="5504235" cy="725805"/>
          </a:xfrm>
          <a:prstGeom prst="rect">
            <a:avLst/>
          </a:prstGeom>
          <a:noFill/>
          <a:ln/>
        </p:spPr>
        <p:txBody>
          <a:bodyPr wrap="square" lIns="0" tIns="0" rIns="0" bIns="0" rtlCol="0" anchor="t"/>
          <a:lstStyle/>
          <a:p>
            <a:pPr marL="0" indent="0" algn="l">
              <a:lnSpc>
                <a:spcPts val="2850"/>
              </a:lnSpc>
              <a:buNone/>
            </a:pPr>
            <a:r>
              <a:rPr lang="en-US" sz="2000" dirty="0">
                <a:solidFill>
                  <a:srgbClr val="272525"/>
                </a:solidFill>
                <a:ea typeface="Inter" pitchFamily="34" charset="-122"/>
                <a:cs typeface="Inter" pitchFamily="34" charset="-120"/>
              </a:rPr>
              <a:t>Create a scalable, user-friendly platform for farmers.</a:t>
            </a:r>
            <a:endParaRPr lang="en-US" sz="2000" dirty="0"/>
          </a:p>
        </p:txBody>
      </p:sp>
      <p:sp>
        <p:nvSpPr>
          <p:cNvPr id="18" name="Text 8">
            <a:extLst>
              <a:ext uri="{FF2B5EF4-FFF2-40B4-BE49-F238E27FC236}">
                <a16:creationId xmlns:a16="http://schemas.microsoft.com/office/drawing/2014/main" id="{2B34BE85-4BC7-AEA9-3C22-D09A5B7EC3FF}"/>
              </a:ext>
            </a:extLst>
          </p:cNvPr>
          <p:cNvSpPr/>
          <p:nvPr/>
        </p:nvSpPr>
        <p:spPr>
          <a:xfrm>
            <a:off x="822662" y="3059429"/>
            <a:ext cx="4726841" cy="1872973"/>
          </a:xfrm>
          <a:prstGeom prst="rect">
            <a:avLst/>
          </a:prstGeom>
          <a:noFill/>
          <a:ln/>
        </p:spPr>
        <p:txBody>
          <a:bodyPr wrap="square" lIns="0" tIns="0" rIns="0" bIns="0" rtlCol="0" anchor="t"/>
          <a:lstStyle/>
          <a:p>
            <a:pPr algn="just">
              <a:lnSpc>
                <a:spcPts val="2850"/>
              </a:lnSpc>
            </a:pPr>
            <a:r>
              <a:rPr lang="en-US" sz="2000" dirty="0"/>
              <a:t>To identify plant diseases at an early stage using machine learning techniques to prevent crop damage.</a:t>
            </a:r>
          </a:p>
        </p:txBody>
      </p:sp>
      <p:sp>
        <p:nvSpPr>
          <p:cNvPr id="19" name="Shape 5">
            <a:extLst>
              <a:ext uri="{FF2B5EF4-FFF2-40B4-BE49-F238E27FC236}">
                <a16:creationId xmlns:a16="http://schemas.microsoft.com/office/drawing/2014/main" id="{B7A9993B-E78E-8E7C-2A53-576AC329C697}"/>
              </a:ext>
            </a:extLst>
          </p:cNvPr>
          <p:cNvSpPr/>
          <p:nvPr/>
        </p:nvSpPr>
        <p:spPr>
          <a:xfrm>
            <a:off x="7948897" y="5165378"/>
            <a:ext cx="6033091" cy="2574310"/>
          </a:xfrm>
          <a:prstGeom prst="roundRect">
            <a:avLst>
              <a:gd name="adj" fmla="val 3185"/>
            </a:avLst>
          </a:prstGeom>
          <a:solidFill>
            <a:srgbClr val="E0D7F4"/>
          </a:solidFill>
          <a:ln w="7620">
            <a:solidFill>
              <a:srgbClr val="C6BDDA"/>
            </a:solidFill>
            <a:prstDash val="solid"/>
          </a:ln>
        </p:spPr>
        <p:txBody>
          <a:bodyPr/>
          <a:lstStyle/>
          <a:p>
            <a:endParaRPr lang="en-US" dirty="0"/>
          </a:p>
        </p:txBody>
      </p:sp>
      <p:sp>
        <p:nvSpPr>
          <p:cNvPr id="20" name="Shape 10">
            <a:extLst>
              <a:ext uri="{FF2B5EF4-FFF2-40B4-BE49-F238E27FC236}">
                <a16:creationId xmlns:a16="http://schemas.microsoft.com/office/drawing/2014/main" id="{0B68F9C2-9730-F362-826F-FD63A3999034}"/>
              </a:ext>
            </a:extLst>
          </p:cNvPr>
          <p:cNvSpPr/>
          <p:nvPr/>
        </p:nvSpPr>
        <p:spPr>
          <a:xfrm>
            <a:off x="8174522" y="5327559"/>
            <a:ext cx="680442" cy="680442"/>
          </a:xfrm>
          <a:prstGeom prst="roundRect">
            <a:avLst>
              <a:gd name="adj" fmla="val 50000"/>
            </a:avLst>
          </a:prstGeom>
          <a:solidFill>
            <a:srgbClr val="6237C8"/>
          </a:solidFill>
          <a:ln/>
        </p:spPr>
        <p:txBody>
          <a:bodyPr/>
          <a:lstStyle/>
          <a:p>
            <a:endParaRPr lang="en-US" dirty="0"/>
          </a:p>
        </p:txBody>
      </p:sp>
      <p:pic>
        <p:nvPicPr>
          <p:cNvPr id="21" name="Image 0" descr="preencoded.png">
            <a:extLst>
              <a:ext uri="{FF2B5EF4-FFF2-40B4-BE49-F238E27FC236}">
                <a16:creationId xmlns:a16="http://schemas.microsoft.com/office/drawing/2014/main" id="{D32B3ECB-C1D5-D111-2BD6-C258D1BAC2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15147" y="5480948"/>
            <a:ext cx="306110" cy="306110"/>
          </a:xfrm>
          <a:prstGeom prst="rect">
            <a:avLst/>
          </a:prstGeom>
        </p:spPr>
      </p:pic>
      <p:sp>
        <p:nvSpPr>
          <p:cNvPr id="23" name="Text 11">
            <a:extLst>
              <a:ext uri="{FF2B5EF4-FFF2-40B4-BE49-F238E27FC236}">
                <a16:creationId xmlns:a16="http://schemas.microsoft.com/office/drawing/2014/main" id="{76917A31-3F01-E45F-0C18-05AE2790A133}"/>
              </a:ext>
            </a:extLst>
          </p:cNvPr>
          <p:cNvSpPr/>
          <p:nvPr/>
        </p:nvSpPr>
        <p:spPr>
          <a:xfrm>
            <a:off x="8312034" y="6056528"/>
            <a:ext cx="5668275" cy="389930"/>
          </a:xfrm>
          <a:prstGeom prst="rect">
            <a:avLst/>
          </a:prstGeom>
          <a:noFill/>
          <a:ln/>
        </p:spPr>
        <p:txBody>
          <a:bodyPr wrap="none" lIns="0" tIns="0" rIns="0" bIns="0" rtlCol="0" anchor="t"/>
          <a:lstStyle/>
          <a:p>
            <a:pPr>
              <a:lnSpc>
                <a:spcPts val="3050"/>
              </a:lnSpc>
            </a:pPr>
            <a:r>
              <a:rPr lang="en-US" sz="2400" b="1" dirty="0"/>
              <a:t>Support Farmers in Crop Management</a:t>
            </a:r>
          </a:p>
        </p:txBody>
      </p:sp>
      <p:sp>
        <p:nvSpPr>
          <p:cNvPr id="24" name="Text 12">
            <a:extLst>
              <a:ext uri="{FF2B5EF4-FFF2-40B4-BE49-F238E27FC236}">
                <a16:creationId xmlns:a16="http://schemas.microsoft.com/office/drawing/2014/main" id="{FA5DCE30-3C5F-D3C6-A92E-3B462B0983B8}"/>
              </a:ext>
            </a:extLst>
          </p:cNvPr>
          <p:cNvSpPr/>
          <p:nvPr/>
        </p:nvSpPr>
        <p:spPr>
          <a:xfrm>
            <a:off x="8315147" y="6415257"/>
            <a:ext cx="5583144" cy="1037595"/>
          </a:xfrm>
          <a:prstGeom prst="rect">
            <a:avLst/>
          </a:prstGeom>
          <a:noFill/>
          <a:ln/>
        </p:spPr>
        <p:txBody>
          <a:bodyPr wrap="square" lIns="0" tIns="0" rIns="0" bIns="0" rtlCol="0" anchor="t"/>
          <a:lstStyle/>
          <a:p>
            <a:pPr>
              <a:lnSpc>
                <a:spcPts val="2850"/>
              </a:lnSpc>
            </a:pPr>
            <a:r>
              <a:rPr lang="en-US" sz="2000" dirty="0"/>
              <a:t>To help farmers take timely preventive actions and improve crop productivity through quick disease diagnosis.</a:t>
            </a:r>
          </a:p>
        </p:txBody>
      </p:sp>
      <p:sp>
        <p:nvSpPr>
          <p:cNvPr id="25" name="Rectangle 24">
            <a:extLst>
              <a:ext uri="{FF2B5EF4-FFF2-40B4-BE49-F238E27FC236}">
                <a16:creationId xmlns:a16="http://schemas.microsoft.com/office/drawing/2014/main" id="{B3ACC182-9314-2F2A-07C6-486F1CB30E6E}"/>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hlinkClick r:id="rId9" action="ppaction://hlinksldjump"/>
              </a:rPr>
              <a:t>Next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9015" y="897017"/>
            <a:ext cx="4990148" cy="623649"/>
          </a:xfrm>
          <a:prstGeom prst="rect">
            <a:avLst/>
          </a:prstGeom>
          <a:noFill/>
          <a:ln/>
        </p:spPr>
        <p:txBody>
          <a:bodyPr wrap="none" lIns="0" tIns="0" rIns="0" bIns="0" rtlCol="0" anchor="t"/>
          <a:lstStyle/>
          <a:p>
            <a:pPr marL="0" indent="0" algn="l">
              <a:lnSpc>
                <a:spcPts val="4900"/>
              </a:lnSpc>
              <a:buNone/>
            </a:pPr>
            <a:r>
              <a:rPr lang="en-US" sz="3900" b="1" dirty="0">
                <a:solidFill>
                  <a:srgbClr val="F95F88"/>
                </a:solidFill>
                <a:latin typeface="Petrona Bold" pitchFamily="34" charset="0"/>
                <a:ea typeface="Petrona Bold" pitchFamily="34" charset="-122"/>
                <a:cs typeface="Petrona Bold" pitchFamily="34" charset="-120"/>
              </a:rPr>
              <a:t>Literature Review</a:t>
            </a:r>
            <a:endParaRPr lang="en-US" sz="3900" dirty="0"/>
          </a:p>
        </p:txBody>
      </p:sp>
      <p:sp>
        <p:nvSpPr>
          <p:cNvPr id="3" name="Text 1"/>
          <p:cNvSpPr/>
          <p:nvPr/>
        </p:nvSpPr>
        <p:spPr>
          <a:xfrm>
            <a:off x="793790" y="309824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Current state-of-the-art research highlights the shift from traditional feature engineering to Deep Learning architectures like Convolutional Neural Networks (CNNs).</a:t>
            </a:r>
            <a:endParaRPr lang="en-US" sz="1750" dirty="0"/>
          </a:p>
        </p:txBody>
      </p:sp>
      <p:sp>
        <p:nvSpPr>
          <p:cNvPr id="4" name="Shape 2"/>
          <p:cNvSpPr/>
          <p:nvPr/>
        </p:nvSpPr>
        <p:spPr>
          <a:xfrm>
            <a:off x="793790" y="4079200"/>
            <a:ext cx="6407944" cy="2129314"/>
          </a:xfrm>
          <a:prstGeom prst="roundRect">
            <a:avLst>
              <a:gd name="adj" fmla="val 4474"/>
            </a:avLst>
          </a:prstGeom>
          <a:solidFill>
            <a:srgbClr val="FDFAF7"/>
          </a:solidFill>
          <a:ln w="30480">
            <a:solidFill>
              <a:srgbClr val="C6BDDA"/>
            </a:solidFill>
            <a:prstDash val="solid"/>
          </a:ln>
        </p:spPr>
      </p:sp>
      <p:sp>
        <p:nvSpPr>
          <p:cNvPr id="5" name="Text 3"/>
          <p:cNvSpPr/>
          <p:nvPr/>
        </p:nvSpPr>
        <p:spPr>
          <a:xfrm>
            <a:off x="1051084" y="4336494"/>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CNN Dominance</a:t>
            </a:r>
            <a:endParaRPr lang="en-US" sz="2450" dirty="0"/>
          </a:p>
        </p:txBody>
      </p:sp>
      <p:sp>
        <p:nvSpPr>
          <p:cNvPr id="6" name="Text 4"/>
          <p:cNvSpPr/>
          <p:nvPr/>
        </p:nvSpPr>
        <p:spPr>
          <a:xfrm>
            <a:off x="1051084" y="4862512"/>
            <a:ext cx="589335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Models like ResNet and EfficientNet have demonstrated superior feature extraction from leaf texture patterns.</a:t>
            </a:r>
            <a:endParaRPr lang="en-US" sz="1750" dirty="0"/>
          </a:p>
        </p:txBody>
      </p:sp>
      <p:sp>
        <p:nvSpPr>
          <p:cNvPr id="7" name="Shape 5"/>
          <p:cNvSpPr/>
          <p:nvPr/>
        </p:nvSpPr>
        <p:spPr>
          <a:xfrm>
            <a:off x="7428548" y="4079200"/>
            <a:ext cx="6408063" cy="2129314"/>
          </a:xfrm>
          <a:prstGeom prst="roundRect">
            <a:avLst>
              <a:gd name="adj" fmla="val 4474"/>
            </a:avLst>
          </a:prstGeom>
          <a:solidFill>
            <a:srgbClr val="FDFAF7"/>
          </a:solidFill>
          <a:ln w="30480">
            <a:solidFill>
              <a:srgbClr val="C6BDDA"/>
            </a:solidFill>
            <a:prstDash val="solid"/>
          </a:ln>
        </p:spPr>
      </p:sp>
      <p:sp>
        <p:nvSpPr>
          <p:cNvPr id="8" name="Text 6"/>
          <p:cNvSpPr/>
          <p:nvPr/>
        </p:nvSpPr>
        <p:spPr>
          <a:xfrm>
            <a:off x="7685842" y="4336494"/>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Transfer Learning</a:t>
            </a:r>
            <a:endParaRPr lang="en-US" sz="2450" dirty="0"/>
          </a:p>
        </p:txBody>
      </p:sp>
      <p:sp>
        <p:nvSpPr>
          <p:cNvPr id="9" name="Text 7"/>
          <p:cNvSpPr/>
          <p:nvPr/>
        </p:nvSpPr>
        <p:spPr>
          <a:xfrm>
            <a:off x="7685842" y="4862512"/>
            <a:ext cx="589347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Leveraging pre-trained models significantly reduces the volume of labelled training data required.</a:t>
            </a:r>
            <a:endParaRPr lang="en-US" sz="1750" dirty="0"/>
          </a:p>
        </p:txBody>
      </p:sp>
      <p:sp>
        <p:nvSpPr>
          <p:cNvPr id="10" name="Rectangle 9">
            <a:hlinkClick r:id="rId3" action="ppaction://hlinksldjump"/>
            <a:extLst>
              <a:ext uri="{FF2B5EF4-FFF2-40B4-BE49-F238E27FC236}">
                <a16:creationId xmlns:a16="http://schemas.microsoft.com/office/drawing/2014/main" id="{F3BF3F87-83BE-C24B-C273-E9F223FD0653}"/>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Next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87122"/>
            <a:ext cx="4990148" cy="623649"/>
          </a:xfrm>
          <a:prstGeom prst="rect">
            <a:avLst/>
          </a:prstGeom>
          <a:noFill/>
          <a:ln/>
        </p:spPr>
        <p:txBody>
          <a:bodyPr wrap="none" lIns="0" tIns="0" rIns="0" bIns="0" rtlCol="0" anchor="t"/>
          <a:lstStyle/>
          <a:p>
            <a:pPr marL="0" indent="0" algn="l">
              <a:lnSpc>
                <a:spcPts val="4900"/>
              </a:lnSpc>
              <a:buNone/>
            </a:pPr>
            <a:r>
              <a:rPr lang="en-US" sz="3900" b="1" dirty="0">
                <a:solidFill>
                  <a:srgbClr val="F95F88"/>
                </a:solidFill>
                <a:latin typeface="Petrona Bold" pitchFamily="34" charset="0"/>
                <a:ea typeface="Petrona Bold" pitchFamily="34" charset="-122"/>
                <a:cs typeface="Petrona Bold" pitchFamily="34" charset="-120"/>
              </a:rPr>
              <a:t>Design Phase</a:t>
            </a:r>
            <a:endParaRPr lang="en-US" sz="3900" dirty="0"/>
          </a:p>
        </p:txBody>
      </p:sp>
      <p:sp>
        <p:nvSpPr>
          <p:cNvPr id="4" name="Text 1"/>
          <p:cNvSpPr/>
          <p:nvPr/>
        </p:nvSpPr>
        <p:spPr>
          <a:xfrm>
            <a:off x="1717942" y="6366228"/>
            <a:ext cx="3228019" cy="403502"/>
          </a:xfrm>
          <a:prstGeom prst="rect">
            <a:avLst/>
          </a:prstGeom>
          <a:noFill/>
          <a:ln/>
        </p:spPr>
        <p:txBody>
          <a:bodyPr wrap="none" lIns="0" tIns="0" rIns="0" bIns="0" rtlCol="0" anchor="t"/>
          <a:lstStyle/>
          <a:p>
            <a:pPr marL="0" indent="0" algn="l">
              <a:lnSpc>
                <a:spcPts val="3150"/>
              </a:lnSpc>
              <a:buNone/>
            </a:pPr>
            <a:r>
              <a:rPr lang="en-US" sz="2500" b="1" dirty="0">
                <a:solidFill>
                  <a:srgbClr val="FFFFFF"/>
                </a:solidFill>
                <a:latin typeface="Petrona Bold" pitchFamily="34" charset="0"/>
                <a:ea typeface="Petrona Bold" pitchFamily="34" charset="-122"/>
                <a:cs typeface="Petrona Bold" pitchFamily="34" charset="-120"/>
              </a:rPr>
              <a:t>Training/Validation</a:t>
            </a:r>
            <a:endParaRPr lang="en-US" sz="2500" dirty="0"/>
          </a:p>
        </p:txBody>
      </p:sp>
      <p:sp>
        <p:nvSpPr>
          <p:cNvPr id="5" name="Text 2"/>
          <p:cNvSpPr/>
          <p:nvPr/>
        </p:nvSpPr>
        <p:spPr>
          <a:xfrm>
            <a:off x="1717942" y="5075020"/>
            <a:ext cx="3228019" cy="403502"/>
          </a:xfrm>
          <a:prstGeom prst="rect">
            <a:avLst/>
          </a:prstGeom>
          <a:noFill/>
          <a:ln/>
        </p:spPr>
        <p:txBody>
          <a:bodyPr wrap="none" lIns="0" tIns="0" rIns="0" bIns="0" rtlCol="0" anchor="t"/>
          <a:lstStyle/>
          <a:p>
            <a:pPr marL="0" indent="0" algn="l">
              <a:lnSpc>
                <a:spcPts val="3150"/>
              </a:lnSpc>
              <a:buNone/>
            </a:pPr>
            <a:r>
              <a:rPr lang="en-US" sz="2500" b="1" dirty="0">
                <a:solidFill>
                  <a:srgbClr val="FFFFFF"/>
                </a:solidFill>
                <a:latin typeface="Petrona Bold" pitchFamily="34" charset="0"/>
                <a:ea typeface="Petrona Bold" pitchFamily="34" charset="-122"/>
                <a:cs typeface="Petrona Bold" pitchFamily="34" charset="-120"/>
              </a:rPr>
              <a:t>CNN Architecture</a:t>
            </a:r>
            <a:endParaRPr lang="en-US" sz="2500" dirty="0"/>
          </a:p>
        </p:txBody>
      </p:sp>
      <p:sp>
        <p:nvSpPr>
          <p:cNvPr id="6" name="Text 3"/>
          <p:cNvSpPr/>
          <p:nvPr/>
        </p:nvSpPr>
        <p:spPr>
          <a:xfrm>
            <a:off x="1717942" y="3796856"/>
            <a:ext cx="3228019" cy="403502"/>
          </a:xfrm>
          <a:prstGeom prst="rect">
            <a:avLst/>
          </a:prstGeom>
          <a:noFill/>
          <a:ln/>
        </p:spPr>
        <p:txBody>
          <a:bodyPr wrap="none" lIns="0" tIns="0" rIns="0" bIns="0" rtlCol="0" anchor="t"/>
          <a:lstStyle/>
          <a:p>
            <a:pPr marL="0" indent="0" algn="l">
              <a:lnSpc>
                <a:spcPts val="3150"/>
              </a:lnSpc>
              <a:buNone/>
            </a:pPr>
            <a:r>
              <a:rPr lang="en-US" sz="2500" b="1" dirty="0">
                <a:solidFill>
                  <a:srgbClr val="FFFFFF"/>
                </a:solidFill>
                <a:latin typeface="Petrona Bold" pitchFamily="34" charset="0"/>
                <a:ea typeface="Petrona Bold" pitchFamily="34" charset="-122"/>
                <a:cs typeface="Petrona Bold" pitchFamily="34" charset="-120"/>
              </a:rPr>
              <a:t>Preprocessing</a:t>
            </a:r>
            <a:endParaRPr lang="en-US" sz="2500" dirty="0"/>
          </a:p>
        </p:txBody>
      </p:sp>
      <p:sp>
        <p:nvSpPr>
          <p:cNvPr id="7" name="Text 4"/>
          <p:cNvSpPr/>
          <p:nvPr/>
        </p:nvSpPr>
        <p:spPr>
          <a:xfrm>
            <a:off x="1717942" y="2505648"/>
            <a:ext cx="3228019" cy="403502"/>
          </a:xfrm>
          <a:prstGeom prst="rect">
            <a:avLst/>
          </a:prstGeom>
          <a:noFill/>
          <a:ln/>
        </p:spPr>
        <p:txBody>
          <a:bodyPr wrap="none" lIns="0" tIns="0" rIns="0" bIns="0" rtlCol="0" anchor="t"/>
          <a:lstStyle/>
          <a:p>
            <a:pPr marL="0" indent="0" algn="l">
              <a:lnSpc>
                <a:spcPts val="3150"/>
              </a:lnSpc>
              <a:buNone/>
            </a:pPr>
            <a:r>
              <a:rPr lang="en-US" sz="2500" b="1" dirty="0">
                <a:solidFill>
                  <a:srgbClr val="FFFFFF"/>
                </a:solidFill>
                <a:latin typeface="Petrona Bold" pitchFamily="34" charset="0"/>
                <a:ea typeface="Petrona Bold" pitchFamily="34" charset="-122"/>
                <a:cs typeface="Petrona Bold" pitchFamily="34" charset="-120"/>
              </a:rPr>
              <a:t>Data Collection</a:t>
            </a:r>
            <a:endParaRPr lang="en-US" sz="2500" dirty="0"/>
          </a:p>
        </p:txBody>
      </p:sp>
      <p:pic>
        <p:nvPicPr>
          <p:cNvPr id="9" name="Picture 8">
            <a:extLst>
              <a:ext uri="{FF2B5EF4-FFF2-40B4-BE49-F238E27FC236}">
                <a16:creationId xmlns:a16="http://schemas.microsoft.com/office/drawing/2014/main" id="{39C2BEAC-4D32-2547-4C24-038A018F1FB7}"/>
              </a:ext>
            </a:extLst>
          </p:cNvPr>
          <p:cNvPicPr>
            <a:picLocks noChangeAspect="1"/>
          </p:cNvPicPr>
          <p:nvPr/>
        </p:nvPicPr>
        <p:blipFill>
          <a:blip r:embed="rId3"/>
          <a:stretch>
            <a:fillRect/>
          </a:stretch>
        </p:blipFill>
        <p:spPr>
          <a:xfrm>
            <a:off x="4495800" y="676275"/>
            <a:ext cx="5486400" cy="8105775"/>
          </a:xfrm>
          <a:prstGeom prst="rect">
            <a:avLst/>
          </a:prstGeom>
        </p:spPr>
      </p:pic>
      <p:sp>
        <p:nvSpPr>
          <p:cNvPr id="10" name="Rectangle 9">
            <a:extLst>
              <a:ext uri="{FF2B5EF4-FFF2-40B4-BE49-F238E27FC236}">
                <a16:creationId xmlns:a16="http://schemas.microsoft.com/office/drawing/2014/main" id="{06870E10-1505-5B60-9457-531B1D349566}"/>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7218" y="555724"/>
            <a:ext cx="4304586" cy="410885"/>
          </a:xfrm>
          <a:prstGeom prst="rect">
            <a:avLst/>
          </a:prstGeom>
          <a:noFill/>
          <a:ln/>
        </p:spPr>
        <p:txBody>
          <a:bodyPr wrap="none" lIns="0" tIns="0" rIns="0" bIns="0" rtlCol="0" anchor="t"/>
          <a:lstStyle/>
          <a:p>
            <a:pPr marL="0" indent="0" algn="l">
              <a:lnSpc>
                <a:spcPts val="3200"/>
              </a:lnSpc>
              <a:buNone/>
            </a:pPr>
            <a:r>
              <a:rPr lang="en-US" sz="3900" b="1" dirty="0">
                <a:solidFill>
                  <a:srgbClr val="F95F88"/>
                </a:solidFill>
                <a:latin typeface="Petrona Bold" pitchFamily="34" charset="0"/>
                <a:ea typeface="Petrona Bold" pitchFamily="34" charset="-122"/>
                <a:cs typeface="Petrona Bold" pitchFamily="34" charset="-120"/>
              </a:rPr>
              <a:t>Implementation</a:t>
            </a:r>
            <a:endParaRPr lang="en-US" sz="3900" dirty="0"/>
          </a:p>
        </p:txBody>
      </p:sp>
      <p:sp>
        <p:nvSpPr>
          <p:cNvPr id="6" name="Rectangle 5">
            <a:hlinkClick r:id="rId3" action="ppaction://hlinksldjump"/>
            <a:extLst>
              <a:ext uri="{FF2B5EF4-FFF2-40B4-BE49-F238E27FC236}">
                <a16:creationId xmlns:a16="http://schemas.microsoft.com/office/drawing/2014/main" id="{DB4FAE1E-0586-5C4D-5845-08A144D86D49}"/>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Next</a:t>
            </a:r>
          </a:p>
        </p:txBody>
      </p:sp>
      <p:pic>
        <p:nvPicPr>
          <p:cNvPr id="8" name="Picture 7">
            <a:extLst>
              <a:ext uri="{FF2B5EF4-FFF2-40B4-BE49-F238E27FC236}">
                <a16:creationId xmlns:a16="http://schemas.microsoft.com/office/drawing/2014/main" id="{99E88E3F-F37F-BB08-AC0E-C3CB9967241C}"/>
              </a:ext>
            </a:extLst>
          </p:cNvPr>
          <p:cNvPicPr>
            <a:picLocks noChangeAspect="1"/>
          </p:cNvPicPr>
          <p:nvPr/>
        </p:nvPicPr>
        <p:blipFill>
          <a:blip r:embed="rId4"/>
          <a:stretch>
            <a:fillRect/>
          </a:stretch>
        </p:blipFill>
        <p:spPr>
          <a:xfrm>
            <a:off x="4469101" y="209549"/>
            <a:ext cx="7501947" cy="7743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7578" y="704969"/>
            <a:ext cx="4935022" cy="418267"/>
          </a:xfrm>
          <a:prstGeom prst="rect">
            <a:avLst/>
          </a:prstGeom>
          <a:noFill/>
          <a:ln/>
        </p:spPr>
        <p:txBody>
          <a:bodyPr wrap="none" lIns="0" tIns="0" rIns="0" bIns="0" rtlCol="0" anchor="t"/>
          <a:lstStyle/>
          <a:p>
            <a:pPr marL="0" indent="0" algn="l">
              <a:lnSpc>
                <a:spcPts val="3250"/>
              </a:lnSpc>
              <a:buNone/>
            </a:pPr>
            <a:r>
              <a:rPr lang="en-US" sz="3900" b="1" dirty="0">
                <a:solidFill>
                  <a:srgbClr val="F95F88"/>
                </a:solidFill>
                <a:latin typeface="Petrona Bold" pitchFamily="34" charset="0"/>
                <a:ea typeface="Petrona Bold" pitchFamily="34" charset="-122"/>
                <a:cs typeface="Petrona Bold" pitchFamily="34" charset="-120"/>
              </a:rPr>
              <a:t>Results and Discussion</a:t>
            </a:r>
            <a:endParaRPr lang="en-US" sz="3900" dirty="0"/>
          </a:p>
        </p:txBody>
      </p:sp>
      <p:sp>
        <p:nvSpPr>
          <p:cNvPr id="4" name="Text 1"/>
          <p:cNvSpPr/>
          <p:nvPr/>
        </p:nvSpPr>
        <p:spPr>
          <a:xfrm>
            <a:off x="818077" y="1266825"/>
            <a:ext cx="13612297" cy="6705600"/>
          </a:xfrm>
          <a:prstGeom prst="rect">
            <a:avLst/>
          </a:prstGeom>
          <a:noFill/>
          <a:ln/>
        </p:spPr>
        <p:txBody>
          <a:bodyPr wrap="none" lIns="0" tIns="0" rIns="0" bIns="0" rtlCol="0" anchor="t"/>
          <a:lstStyle/>
          <a:p>
            <a:pPr>
              <a:lnSpc>
                <a:spcPct val="150000"/>
              </a:lnSpc>
            </a:pPr>
            <a:endParaRPr lang="en-US" sz="2000" dirty="0"/>
          </a:p>
          <a:p>
            <a:pPr marL="342900" indent="-342900">
              <a:lnSpc>
                <a:spcPct val="150000"/>
              </a:lnSpc>
              <a:buFont typeface="Arial" panose="020B0604020202020204" pitchFamily="34" charset="0"/>
              <a:buChar char="•"/>
            </a:pPr>
            <a:r>
              <a:rPr lang="en-US" sz="2000" dirty="0"/>
              <a:t>The machine learning model successfully identified both healthy and diseased plant leaves using image analysis.</a:t>
            </a:r>
          </a:p>
          <a:p>
            <a:pPr marL="342900" indent="-342900">
              <a:lnSpc>
                <a:spcPct val="150000"/>
              </a:lnSpc>
              <a:buFont typeface="Arial" panose="020B0604020202020204" pitchFamily="34" charset="0"/>
              <a:buChar char="•"/>
            </a:pPr>
            <a:r>
              <a:rPr lang="en-US" sz="2000" dirty="0"/>
              <a:t>The trained model achieved good accuracy in classifying different types of leaf diseases.</a:t>
            </a:r>
          </a:p>
          <a:p>
            <a:pPr marL="342900" indent="-342900">
              <a:lnSpc>
                <a:spcPct val="150000"/>
              </a:lnSpc>
              <a:buFont typeface="Arial" panose="020B0604020202020204" pitchFamily="34" charset="0"/>
              <a:buChar char="•"/>
            </a:pPr>
            <a:r>
              <a:rPr lang="en-US" sz="2000" dirty="0"/>
              <a:t>The system provides faster results compared to traditional manual disease detection methods</a:t>
            </a:r>
          </a:p>
          <a:p>
            <a:pPr marL="342900" indent="-342900">
              <a:lnSpc>
                <a:spcPct val="150000"/>
              </a:lnSpc>
              <a:buFont typeface="Arial" panose="020B0604020202020204" pitchFamily="34" charset="0"/>
              <a:buChar char="•"/>
            </a:pPr>
            <a:r>
              <a:rPr lang="en-US" sz="2000" dirty="0"/>
              <a:t>It helps in detecting plant diseases at an early stage, which can reduce crop damage and yield loss.</a:t>
            </a:r>
          </a:p>
          <a:p>
            <a:pPr marL="342900" indent="-342900">
              <a:lnSpc>
                <a:spcPct val="150000"/>
              </a:lnSpc>
              <a:buFont typeface="Arial" panose="020B0604020202020204" pitchFamily="34" charset="0"/>
              <a:buChar char="•"/>
            </a:pPr>
            <a:r>
              <a:rPr lang="en-US" sz="2000" dirty="0"/>
              <a:t>The accuracy of prediction depends on the quality of the leaf images, lighting conditions, and background.</a:t>
            </a:r>
          </a:p>
          <a:p>
            <a:pPr marL="342900" indent="-342900">
              <a:lnSpc>
                <a:spcPct val="150000"/>
              </a:lnSpc>
              <a:buFont typeface="Arial" panose="020B0604020202020204" pitchFamily="34" charset="0"/>
              <a:buChar char="•"/>
            </a:pPr>
            <a:r>
              <a:rPr lang="en-US" sz="2000" dirty="0"/>
              <a:t>The system reduces the need for manual inspection by experts and saves time and effort for farmers.</a:t>
            </a:r>
          </a:p>
          <a:p>
            <a:pPr marL="342900" indent="-342900">
              <a:lnSpc>
                <a:spcPct val="150000"/>
              </a:lnSpc>
              <a:buFont typeface="Arial" panose="020B0604020202020204" pitchFamily="34" charset="0"/>
              <a:buChar char="•"/>
            </a:pPr>
            <a:r>
              <a:rPr lang="en-US" sz="2000" dirty="0"/>
              <a:t>The model performance can be improved in the future by using larger datasets and advanced machine learning techniques. </a:t>
            </a:r>
          </a:p>
        </p:txBody>
      </p:sp>
      <p:sp>
        <p:nvSpPr>
          <p:cNvPr id="7" name="Rectangle 6">
            <a:hlinkClick r:id="rId3" action="ppaction://hlinksldjump"/>
            <a:extLst>
              <a:ext uri="{FF2B5EF4-FFF2-40B4-BE49-F238E27FC236}">
                <a16:creationId xmlns:a16="http://schemas.microsoft.com/office/drawing/2014/main" id="{3DE669CA-C790-42E7-A9E1-69E3D6A2E1B5}"/>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hlinkClick r:id="rId3" action="ppaction://hlinksldjump"/>
              </a:rPr>
              <a:t>Next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41365" y="451128"/>
            <a:ext cx="4990148" cy="623649"/>
          </a:xfrm>
          <a:prstGeom prst="rect">
            <a:avLst/>
          </a:prstGeom>
          <a:noFill/>
          <a:ln/>
        </p:spPr>
        <p:txBody>
          <a:bodyPr wrap="none" lIns="0" tIns="0" rIns="0" bIns="0" rtlCol="0" anchor="t"/>
          <a:lstStyle/>
          <a:p>
            <a:pPr marL="0" indent="0" algn="l">
              <a:lnSpc>
                <a:spcPts val="4900"/>
              </a:lnSpc>
              <a:buNone/>
            </a:pPr>
            <a:r>
              <a:rPr lang="en-US" sz="3900" b="1" dirty="0">
                <a:solidFill>
                  <a:srgbClr val="F95F88"/>
                </a:solidFill>
                <a:latin typeface="Petrona Bold" pitchFamily="34" charset="0"/>
                <a:ea typeface="Petrona Bold" pitchFamily="34" charset="-122"/>
                <a:cs typeface="Petrona Bold" pitchFamily="34" charset="-120"/>
              </a:rPr>
              <a:t>Conclusion</a:t>
            </a:r>
            <a:endParaRPr lang="en-US" sz="3900" dirty="0"/>
          </a:p>
        </p:txBody>
      </p:sp>
      <p:sp>
        <p:nvSpPr>
          <p:cNvPr id="3" name="Text 1"/>
          <p:cNvSpPr/>
          <p:nvPr/>
        </p:nvSpPr>
        <p:spPr>
          <a:xfrm>
            <a:off x="793790" y="1358265"/>
            <a:ext cx="13042821" cy="4394835"/>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sz="2000" dirty="0"/>
              <a:t>The Leaf Disease Detection System using Machine Learning helps in automatically identifying plant diseases from leaf images.</a:t>
            </a:r>
          </a:p>
          <a:p>
            <a:pPr marL="285750" indent="-285750">
              <a:lnSpc>
                <a:spcPts val="2850"/>
              </a:lnSpc>
              <a:buFont typeface="Arial" panose="020B0604020202020204" pitchFamily="34" charset="0"/>
              <a:buChar char="•"/>
            </a:pPr>
            <a:r>
              <a:rPr lang="en-US" sz="2000" dirty="0"/>
              <a:t>The system provides quick and accurate detection compared to traditional manual methods.</a:t>
            </a:r>
          </a:p>
          <a:p>
            <a:pPr marL="285750" indent="-285750">
              <a:lnSpc>
                <a:spcPts val="2850"/>
              </a:lnSpc>
              <a:buFont typeface="Arial" panose="020B0604020202020204" pitchFamily="34" charset="0"/>
              <a:buChar char="•"/>
            </a:pPr>
            <a:r>
              <a:rPr lang="en-US" sz="2000" dirty="0"/>
              <a:t>Early detection of diseases helps farmers take timely preventive actions and reduce crop damage.</a:t>
            </a:r>
          </a:p>
          <a:p>
            <a:pPr marL="285750" indent="-285750">
              <a:lnSpc>
                <a:spcPts val="2850"/>
              </a:lnSpc>
              <a:buFont typeface="Arial" panose="020B0604020202020204" pitchFamily="34" charset="0"/>
              <a:buChar char="•"/>
            </a:pPr>
            <a:r>
              <a:rPr lang="en-US" sz="2000" dirty="0"/>
              <a:t>It reduces the need for expert inspection and saves time and effort in the disease identification process.</a:t>
            </a:r>
          </a:p>
          <a:p>
            <a:pPr marL="285750" indent="-285750">
              <a:lnSpc>
                <a:spcPts val="2850"/>
              </a:lnSpc>
              <a:buFont typeface="Arial" panose="020B0604020202020204" pitchFamily="34" charset="0"/>
              <a:buChar char="•"/>
            </a:pPr>
            <a:r>
              <a:rPr lang="en-US" sz="2000" dirty="0"/>
              <a:t>The system improves crop management and supports better agricultural productivity.</a:t>
            </a:r>
          </a:p>
          <a:p>
            <a:pPr marL="285750" indent="-285750">
              <a:lnSpc>
                <a:spcPts val="2850"/>
              </a:lnSpc>
              <a:buFont typeface="Arial" panose="020B0604020202020204" pitchFamily="34" charset="0"/>
              <a:buChar char="•"/>
            </a:pPr>
            <a:r>
              <a:rPr lang="en-US" sz="2000" dirty="0"/>
              <a:t>The performance of the model may depend on factors such as image quality and dataset size. </a:t>
            </a:r>
          </a:p>
          <a:p>
            <a:pPr marL="285750" indent="-285750">
              <a:lnSpc>
                <a:spcPts val="2850"/>
              </a:lnSpc>
              <a:buFont typeface="Arial" panose="020B0604020202020204" pitchFamily="34" charset="0"/>
              <a:buChar char="•"/>
            </a:pPr>
            <a:r>
              <a:rPr lang="en-US" sz="2000" dirty="0"/>
              <a:t>With future improvements like larger datasets and advanced algorithms, the system can become more efficient and useful for farmers</a:t>
            </a:r>
            <a:r>
              <a:rPr lang="en-US" sz="1600" dirty="0"/>
              <a:t>.</a:t>
            </a:r>
          </a:p>
          <a:p>
            <a:pPr marL="285750" indent="-285750">
              <a:lnSpc>
                <a:spcPts val="2850"/>
              </a:lnSpc>
              <a:buFont typeface="Arial" panose="020B0604020202020204" pitchFamily="34" charset="0"/>
              <a:buChar char="•"/>
            </a:pPr>
            <a:endParaRPr lang="en-US" sz="1750" dirty="0"/>
          </a:p>
        </p:txBody>
      </p:sp>
      <p:sp>
        <p:nvSpPr>
          <p:cNvPr id="4" name="Shape 2"/>
          <p:cNvSpPr/>
          <p:nvPr/>
        </p:nvSpPr>
        <p:spPr>
          <a:xfrm>
            <a:off x="441365" y="5840523"/>
            <a:ext cx="13042821" cy="1415771"/>
          </a:xfrm>
          <a:prstGeom prst="roundRect">
            <a:avLst>
              <a:gd name="adj" fmla="val 9884"/>
            </a:avLst>
          </a:prstGeom>
          <a:solidFill>
            <a:srgbClr val="D0C3EE"/>
          </a:solidFill>
          <a:ln/>
        </p:spPr>
      </p:sp>
      <p:pic>
        <p:nvPicPr>
          <p:cNvPr id="5" name="Image 0" descr="preencoded.png"/>
          <p:cNvPicPr>
            <a:picLocks noChangeAspect="1"/>
          </p:cNvPicPr>
          <p:nvPr/>
        </p:nvPicPr>
        <p:blipFill>
          <a:blip r:embed="rId3"/>
          <a:stretch>
            <a:fillRect/>
          </a:stretch>
        </p:blipFill>
        <p:spPr>
          <a:xfrm>
            <a:off x="578284" y="6321594"/>
            <a:ext cx="283488" cy="226814"/>
          </a:xfrm>
          <a:prstGeom prst="rect">
            <a:avLst/>
          </a:prstGeom>
        </p:spPr>
      </p:pic>
      <p:sp>
        <p:nvSpPr>
          <p:cNvPr id="6" name="Text 3"/>
          <p:cNvSpPr/>
          <p:nvPr/>
        </p:nvSpPr>
        <p:spPr>
          <a:xfrm>
            <a:off x="1077215" y="6216699"/>
            <a:ext cx="12475970" cy="1082458"/>
          </a:xfrm>
          <a:prstGeom prst="rect">
            <a:avLst/>
          </a:prstGeom>
          <a:noFill/>
          <a:ln/>
        </p:spPr>
        <p:txBody>
          <a:bodyPr wrap="none" lIns="0" tIns="0" rIns="0" bIns="0" rtlCol="0" anchor="t"/>
          <a:lstStyle/>
          <a:p>
            <a:pPr>
              <a:lnSpc>
                <a:spcPts val="2850"/>
              </a:lnSpc>
            </a:pPr>
            <a:r>
              <a:rPr lang="en-US" sz="2000" dirty="0"/>
              <a:t>Our model can be further improved by training it with larger datasets and advanced algorithms to accurately detect and </a:t>
            </a:r>
          </a:p>
          <a:p>
            <a:pPr>
              <a:lnSpc>
                <a:spcPts val="2850"/>
              </a:lnSpc>
            </a:pPr>
            <a:r>
              <a:rPr lang="en-US" sz="2000" dirty="0"/>
              <a:t>predict multiple types of leaf diseases.</a:t>
            </a:r>
          </a:p>
        </p:txBody>
      </p:sp>
      <p:sp>
        <p:nvSpPr>
          <p:cNvPr id="7" name="Rectangle 6">
            <a:extLst>
              <a:ext uri="{FF2B5EF4-FFF2-40B4-BE49-F238E27FC236}">
                <a16:creationId xmlns:a16="http://schemas.microsoft.com/office/drawing/2014/main" id="{73E92871-8477-92AD-347A-B2F4B1955786}"/>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36590" y="680085"/>
            <a:ext cx="5056584" cy="623649"/>
          </a:xfrm>
          <a:prstGeom prst="rect">
            <a:avLst/>
          </a:prstGeom>
          <a:noFill/>
          <a:ln/>
        </p:spPr>
        <p:txBody>
          <a:bodyPr wrap="none" lIns="0" tIns="0" rIns="0" bIns="0" rtlCol="0" anchor="t"/>
          <a:lstStyle/>
          <a:p>
            <a:pPr marL="0" indent="0" algn="l">
              <a:lnSpc>
                <a:spcPts val="4900"/>
              </a:lnSpc>
              <a:buNone/>
            </a:pPr>
            <a:r>
              <a:rPr lang="en-US" sz="3900" b="1" dirty="0">
                <a:solidFill>
                  <a:srgbClr val="F95F88"/>
                </a:solidFill>
                <a:latin typeface="Petrona Bold" pitchFamily="34" charset="0"/>
                <a:ea typeface="Petrona Bold" pitchFamily="34" charset="-122"/>
                <a:cs typeface="Petrona Bold" pitchFamily="34" charset="-120"/>
              </a:rPr>
              <a:t>Future Enhancements</a:t>
            </a:r>
            <a:endParaRPr lang="en-US" sz="3900" dirty="0"/>
          </a:p>
        </p:txBody>
      </p:sp>
      <p:sp>
        <p:nvSpPr>
          <p:cNvPr id="3" name="Shape 1"/>
          <p:cNvSpPr/>
          <p:nvPr/>
        </p:nvSpPr>
        <p:spPr>
          <a:xfrm>
            <a:off x="1133951" y="4038838"/>
            <a:ext cx="6067663" cy="226814"/>
          </a:xfrm>
          <a:prstGeom prst="roundRect">
            <a:avLst>
              <a:gd name="adj" fmla="val 42003"/>
            </a:avLst>
          </a:prstGeom>
          <a:solidFill>
            <a:srgbClr val="E0D7F4"/>
          </a:solidFill>
          <a:ln w="7620">
            <a:solidFill>
              <a:srgbClr val="C6BDDA"/>
            </a:solidFill>
            <a:prstDash val="solid"/>
          </a:ln>
        </p:spPr>
      </p:sp>
      <p:sp>
        <p:nvSpPr>
          <p:cNvPr id="4" name="Shape 2"/>
          <p:cNvSpPr/>
          <p:nvPr/>
        </p:nvSpPr>
        <p:spPr>
          <a:xfrm>
            <a:off x="793790" y="3811965"/>
            <a:ext cx="680442" cy="680442"/>
          </a:xfrm>
          <a:prstGeom prst="roundRect">
            <a:avLst>
              <a:gd name="adj" fmla="val 67192"/>
            </a:avLst>
          </a:prstGeom>
          <a:solidFill>
            <a:srgbClr val="E0D7F4"/>
          </a:solidFill>
          <a:ln w="7620">
            <a:solidFill>
              <a:srgbClr val="C6BDDA"/>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3930" y="3982105"/>
            <a:ext cx="340162" cy="340162"/>
          </a:xfrm>
          <a:prstGeom prst="rect">
            <a:avLst/>
          </a:prstGeom>
        </p:spPr>
      </p:pic>
      <p:sp>
        <p:nvSpPr>
          <p:cNvPr id="6" name="Text 3"/>
          <p:cNvSpPr/>
          <p:nvPr/>
        </p:nvSpPr>
        <p:spPr>
          <a:xfrm>
            <a:off x="1020604" y="4719280"/>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Cloud Integration</a:t>
            </a:r>
            <a:endParaRPr lang="en-US" sz="2450" dirty="0"/>
          </a:p>
        </p:txBody>
      </p:sp>
      <p:sp>
        <p:nvSpPr>
          <p:cNvPr id="7" name="Text 4"/>
          <p:cNvSpPr/>
          <p:nvPr/>
        </p:nvSpPr>
        <p:spPr>
          <a:xfrm>
            <a:off x="1020604" y="5245298"/>
            <a:ext cx="595431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Real-time synchronisation for regional crop monitoring.</a:t>
            </a:r>
            <a:endParaRPr lang="en-US" sz="1750" dirty="0"/>
          </a:p>
        </p:txBody>
      </p:sp>
      <p:sp>
        <p:nvSpPr>
          <p:cNvPr id="8" name="Shape 5"/>
          <p:cNvSpPr/>
          <p:nvPr/>
        </p:nvSpPr>
        <p:spPr>
          <a:xfrm>
            <a:off x="7938850" y="4031100"/>
            <a:ext cx="6067782" cy="226814"/>
          </a:xfrm>
          <a:prstGeom prst="roundRect">
            <a:avLst>
              <a:gd name="adj" fmla="val 42003"/>
            </a:avLst>
          </a:prstGeom>
          <a:solidFill>
            <a:srgbClr val="E0D7F4"/>
          </a:solidFill>
          <a:ln w="7620">
            <a:solidFill>
              <a:srgbClr val="C6BDDA"/>
            </a:solidFill>
            <a:prstDash val="solid"/>
          </a:ln>
        </p:spPr>
        <p:txBody>
          <a:bodyPr/>
          <a:lstStyle/>
          <a:p>
            <a:endParaRPr lang="en-US" dirty="0"/>
          </a:p>
        </p:txBody>
      </p:sp>
      <p:sp>
        <p:nvSpPr>
          <p:cNvPr id="9" name="Shape 6"/>
          <p:cNvSpPr/>
          <p:nvPr/>
        </p:nvSpPr>
        <p:spPr>
          <a:xfrm>
            <a:off x="7428548" y="3843933"/>
            <a:ext cx="680442" cy="680442"/>
          </a:xfrm>
          <a:prstGeom prst="roundRect">
            <a:avLst>
              <a:gd name="adj" fmla="val 67192"/>
            </a:avLst>
          </a:prstGeom>
          <a:solidFill>
            <a:srgbClr val="E0D7F4"/>
          </a:solidFill>
          <a:ln w="7620">
            <a:solidFill>
              <a:srgbClr val="C6BDDA"/>
            </a:solidFill>
            <a:prstDash val="solid"/>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98688" y="3999012"/>
            <a:ext cx="340162" cy="340162"/>
          </a:xfrm>
          <a:prstGeom prst="rect">
            <a:avLst/>
          </a:prstGeom>
        </p:spPr>
      </p:pic>
      <p:sp>
        <p:nvSpPr>
          <p:cNvPr id="11" name="Text 7"/>
          <p:cNvSpPr/>
          <p:nvPr/>
        </p:nvSpPr>
        <p:spPr>
          <a:xfrm>
            <a:off x="7655362" y="4719280"/>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IoT Field Sensors</a:t>
            </a:r>
            <a:endParaRPr lang="en-US" sz="2450" dirty="0"/>
          </a:p>
        </p:txBody>
      </p:sp>
      <p:sp>
        <p:nvSpPr>
          <p:cNvPr id="12" name="Text 8"/>
          <p:cNvSpPr/>
          <p:nvPr/>
        </p:nvSpPr>
        <p:spPr>
          <a:xfrm>
            <a:off x="7655362" y="5207673"/>
            <a:ext cx="595443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Integrating soil data with image-based diagnosis.</a:t>
            </a:r>
            <a:endParaRPr lang="en-US" sz="1750" dirty="0"/>
          </a:p>
        </p:txBody>
      </p:sp>
      <p:sp>
        <p:nvSpPr>
          <p:cNvPr id="13" name="Rectangle 12">
            <a:extLst>
              <a:ext uri="{FF2B5EF4-FFF2-40B4-BE49-F238E27FC236}">
                <a16:creationId xmlns:a16="http://schemas.microsoft.com/office/drawing/2014/main" id="{DEB36299-6B5A-C7E2-C06D-4B97BE6055D5}"/>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hlinkClick r:id="rId7" action="ppaction://hlinksldjump"/>
              </a:rPr>
              <a:t>Next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F175CA-CF80-EEA7-3FF1-06F308F02742}"/>
              </a:ext>
            </a:extLst>
          </p:cNvPr>
          <p:cNvSpPr/>
          <p:nvPr/>
        </p:nvSpPr>
        <p:spPr>
          <a:xfrm>
            <a:off x="12296774" y="7648575"/>
            <a:ext cx="2333625" cy="581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hlinkClick r:id="rId2" action="ppaction://hlinksldjump"/>
              </a:rPr>
              <a:t>Home</a:t>
            </a:r>
            <a:endParaRPr lang="en-US" dirty="0"/>
          </a:p>
        </p:txBody>
      </p:sp>
      <p:sp>
        <p:nvSpPr>
          <p:cNvPr id="3" name="TextBox 2">
            <a:extLst>
              <a:ext uri="{FF2B5EF4-FFF2-40B4-BE49-F238E27FC236}">
                <a16:creationId xmlns:a16="http://schemas.microsoft.com/office/drawing/2014/main" id="{02C4E0A9-55BE-C516-4C7A-DDE1C8F158E6}"/>
              </a:ext>
            </a:extLst>
          </p:cNvPr>
          <p:cNvSpPr txBox="1"/>
          <p:nvPr/>
        </p:nvSpPr>
        <p:spPr>
          <a:xfrm>
            <a:off x="2524125" y="2495550"/>
            <a:ext cx="6791325" cy="1015663"/>
          </a:xfrm>
          <a:prstGeom prst="rect">
            <a:avLst/>
          </a:prstGeom>
          <a:noFill/>
        </p:spPr>
        <p:txBody>
          <a:bodyPr wrap="square" rtlCol="0">
            <a:spAutoFit/>
          </a:bodyPr>
          <a:lstStyle/>
          <a:p>
            <a:pPr algn="ctr"/>
            <a:r>
              <a:rPr lang="en-US" sz="6000" dirty="0">
                <a:solidFill>
                  <a:schemeClr val="accent1">
                    <a:lumMod val="75000"/>
                  </a:schemeClr>
                </a:solidFill>
              </a:rPr>
              <a:t>THANK YOU</a:t>
            </a:r>
          </a:p>
        </p:txBody>
      </p:sp>
    </p:spTree>
    <p:extLst>
      <p:ext uri="{BB962C8B-B14F-4D97-AF65-F5344CB8AC3E}">
        <p14:creationId xmlns:p14="http://schemas.microsoft.com/office/powerpoint/2010/main" val="771703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592</Words>
  <Application>Microsoft Office PowerPoint</Application>
  <PresentationFormat>Custom</PresentationFormat>
  <Paragraphs>69</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Inter</vt:lpstr>
      <vt:lpstr>Petrona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HAVYAS B</cp:lastModifiedBy>
  <cp:revision>2</cp:revision>
  <dcterms:created xsi:type="dcterms:W3CDTF">2026-03-10T01:51:16Z</dcterms:created>
  <dcterms:modified xsi:type="dcterms:W3CDTF">2026-03-10T02:57:57Z</dcterms:modified>
</cp:coreProperties>
</file>